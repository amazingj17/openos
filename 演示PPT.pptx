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b02e8993744507" /><Relationship Type="http://schemas.openxmlformats.org/officeDocument/2006/relationships/extended-properties" Target="/docProps/app.xml" Id="R4412041ff1c64693" /><Relationship Type="http://schemas.openxmlformats.org/officeDocument/2006/relationships/officeDocument" Target="/ppt/presentation.xml" Id="Rfb70023a59e84c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ce180f7cd54581"/>
  </p:sldMasterIdLst>
  <p:notesMasterIdLst>
    <p:notesMasterId xmlns:r="http://schemas.openxmlformats.org/officeDocument/2006/relationships" r:id="Rae1f41f8ac6f4502"/>
  </p:notesMasterIdLst>
  <p:sldIdLst>
    <p:sldId xmlns:r="http://schemas.openxmlformats.org/officeDocument/2006/relationships" id="256" r:id="R4ec08e749ba84eda"/>
    <p:sldId xmlns:r="http://schemas.openxmlformats.org/officeDocument/2006/relationships" id="257" r:id="R13299d4121274f1a"/>
    <p:sldId xmlns:r="http://schemas.openxmlformats.org/officeDocument/2006/relationships" id="258" r:id="R9c9aeffd3bf34159"/>
    <p:sldId xmlns:r="http://schemas.openxmlformats.org/officeDocument/2006/relationships" id="259" r:id="R73a08d55f5864eb2"/>
    <p:sldId xmlns:r="http://schemas.openxmlformats.org/officeDocument/2006/relationships" id="260" r:id="R8505b436ff4c476c"/>
    <p:sldId xmlns:r="http://schemas.openxmlformats.org/officeDocument/2006/relationships" id="261" r:id="R61c2858a395e4588"/>
    <p:sldId xmlns:r="http://schemas.openxmlformats.org/officeDocument/2006/relationships" id="262" r:id="R34a26f2c621e48f7"/>
    <p:sldId xmlns:r="http://schemas.openxmlformats.org/officeDocument/2006/relationships" id="263" r:id="R8dc3c13d624948a3"/>
    <p:sldId xmlns:r="http://schemas.openxmlformats.org/officeDocument/2006/relationships" id="264" r:id="R40b4a5cb82b047de"/>
    <p:sldId xmlns:r="http://schemas.openxmlformats.org/officeDocument/2006/relationships" id="265" r:id="R97ff0b12810343cd"/>
    <p:sldId xmlns:r="http://schemas.openxmlformats.org/officeDocument/2006/relationships" id="266" r:id="Ra6393014f8ad481c"/>
    <p:sldId xmlns:r="http://schemas.openxmlformats.org/officeDocument/2006/relationships" id="267" r:id="R32325032b9644c33"/>
    <p:sldId xmlns:r="http://schemas.openxmlformats.org/officeDocument/2006/relationships" id="268" r:id="R9ebf9b0d36394840"/>
    <p:sldId xmlns:r="http://schemas.openxmlformats.org/officeDocument/2006/relationships" id="269" r:id="R922a5d4a0acd48df"/>
    <p:sldId xmlns:r="http://schemas.openxmlformats.org/officeDocument/2006/relationships" id="270" r:id="Re0a459a5884541d1"/>
    <p:sldId xmlns:r="http://schemas.openxmlformats.org/officeDocument/2006/relationships" id="271" r:id="R6404384ae9d74b39"/>
    <p:sldId xmlns:r="http://schemas.openxmlformats.org/officeDocument/2006/relationships" id="272" r:id="Ra578d7f3a482407c"/>
    <p:sldId xmlns:r="http://schemas.openxmlformats.org/officeDocument/2006/relationships" id="273" r:id="R72e1c2753f8441ce"/>
    <p:sldId xmlns:r="http://schemas.openxmlformats.org/officeDocument/2006/relationships" id="274" r:id="Ra9b72992f3fc460e"/>
    <p:sldId xmlns:r="http://schemas.openxmlformats.org/officeDocument/2006/relationships" id="275" r:id="R8f1d811ff49d42c7"/>
    <p:sldId xmlns:r="http://schemas.openxmlformats.org/officeDocument/2006/relationships" id="276" r:id="Rf28a571d95944e17"/>
    <p:sldId xmlns:r="http://schemas.openxmlformats.org/officeDocument/2006/relationships" id="277" r:id="Ra167cd4466454778"/>
    <p:sldId xmlns:r="http://schemas.openxmlformats.org/officeDocument/2006/relationships" id="278" r:id="R4ee91566226b43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619cd3ead74cd7" /><Relationship Type="http://schemas.openxmlformats.org/officeDocument/2006/relationships/slideMaster" Target="/ppt/slideMasters/slideMaster1.xml" Id="Rf2ce180f7cd54581" /><Relationship Type="http://schemas.openxmlformats.org/officeDocument/2006/relationships/notesMaster" Target="/ppt/notesMasters/notesMaster1.xml" Id="Rae1f41f8ac6f4502" /><Relationship Type="http://schemas.openxmlformats.org/officeDocument/2006/relationships/presProps" Target="/ppt/presProps.xml" Id="R3f1ef97a09e14011" /><Relationship Type="http://schemas.openxmlformats.org/officeDocument/2006/relationships/viewProps" Target="/ppt/viewProps.xml" Id="R068ba11eeebd40ca" /><Relationship Type="http://schemas.openxmlformats.org/officeDocument/2006/relationships/tableStyles" Target="/ppt/tableStyles.xml" Id="R51200ea1c87d4050" /><Relationship Type="http://schemas.openxmlformats.org/officeDocument/2006/relationships/slide" Target="/ppt/slides/slide1.xml" Id="R4ec08e749ba84eda" /><Relationship Type="http://schemas.openxmlformats.org/officeDocument/2006/relationships/slide" Target="/ppt/slides/slide2.xml" Id="R13299d4121274f1a" /><Relationship Type="http://schemas.openxmlformats.org/officeDocument/2006/relationships/slide" Target="/ppt/slides/slide3.xml" Id="R9c9aeffd3bf34159" /><Relationship Type="http://schemas.openxmlformats.org/officeDocument/2006/relationships/slide" Target="/ppt/slides/slide4.xml" Id="R73a08d55f5864eb2" /><Relationship Type="http://schemas.openxmlformats.org/officeDocument/2006/relationships/slide" Target="/ppt/slides/slide5.xml" Id="R8505b436ff4c476c" /><Relationship Type="http://schemas.openxmlformats.org/officeDocument/2006/relationships/slide" Target="/ppt/slides/slide6.xml" Id="R61c2858a395e4588" /><Relationship Type="http://schemas.openxmlformats.org/officeDocument/2006/relationships/slide" Target="/ppt/slides/slide7.xml" Id="R34a26f2c621e48f7" /><Relationship Type="http://schemas.openxmlformats.org/officeDocument/2006/relationships/slide" Target="/ppt/slides/slide8.xml" Id="R8dc3c13d624948a3" /><Relationship Type="http://schemas.openxmlformats.org/officeDocument/2006/relationships/slide" Target="/ppt/slides/slide9.xml" Id="R40b4a5cb82b047de" /><Relationship Type="http://schemas.openxmlformats.org/officeDocument/2006/relationships/slide" Target="/ppt/slides/slide10.xml" Id="R97ff0b12810343cd" /><Relationship Type="http://schemas.openxmlformats.org/officeDocument/2006/relationships/slide" Target="/ppt/slides/slide11.xml" Id="Ra6393014f8ad481c" /><Relationship Type="http://schemas.openxmlformats.org/officeDocument/2006/relationships/slide" Target="/ppt/slides/slide12.xml" Id="R32325032b9644c33" /><Relationship Type="http://schemas.openxmlformats.org/officeDocument/2006/relationships/slide" Target="/ppt/slides/slide13.xml" Id="R9ebf9b0d36394840" /><Relationship Type="http://schemas.openxmlformats.org/officeDocument/2006/relationships/slide" Target="/ppt/slides/slide14.xml" Id="R922a5d4a0acd48df" /><Relationship Type="http://schemas.openxmlformats.org/officeDocument/2006/relationships/slide" Target="/ppt/slides/slide15.xml" Id="Re0a459a5884541d1" /><Relationship Type="http://schemas.openxmlformats.org/officeDocument/2006/relationships/slide" Target="/ppt/slides/slide16.xml" Id="R6404384ae9d74b39" /><Relationship Type="http://schemas.openxmlformats.org/officeDocument/2006/relationships/slide" Target="/ppt/slides/slide17.xml" Id="Ra578d7f3a482407c" /><Relationship Type="http://schemas.openxmlformats.org/officeDocument/2006/relationships/slide" Target="/ppt/slides/slide18.xml" Id="R72e1c2753f8441ce" /><Relationship Type="http://schemas.openxmlformats.org/officeDocument/2006/relationships/slide" Target="/ppt/slides/slide19.xml" Id="Ra9b72992f3fc460e" /><Relationship Type="http://schemas.openxmlformats.org/officeDocument/2006/relationships/slide" Target="/ppt/slides/slide20.xml" Id="R8f1d811ff49d42c7" /><Relationship Type="http://schemas.openxmlformats.org/officeDocument/2006/relationships/slide" Target="/ppt/slides/slide21.xml" Id="Rf28a571d95944e17" /><Relationship Type="http://schemas.openxmlformats.org/officeDocument/2006/relationships/slide" Target="/ppt/slides/slide22.xml" Id="Ra167cd4466454778" /><Relationship Type="http://schemas.openxmlformats.org/officeDocument/2006/relationships/slide" Target="/ppt/slides/slide23.xml" Id="R4ee91566226b43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9bbff4405449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9015dbe7584813" /><Relationship Type="http://schemas.openxmlformats.org/officeDocument/2006/relationships/notesMaster" Target="/ppt/notesMasters/notesMaster1.xml" Id="R1f0564dd205245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364a24d33442c8" /><Relationship Type="http://schemas.openxmlformats.org/officeDocument/2006/relationships/notesMaster" Target="/ppt/notesMasters/notesMaster1.xml" Id="R373c4664904d4e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421a1935f14e7d" /><Relationship Type="http://schemas.openxmlformats.org/officeDocument/2006/relationships/notesMaster" Target="/ppt/notesMasters/notesMaster1.xml" Id="R781d2827913446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c610faf7364a76" /><Relationship Type="http://schemas.openxmlformats.org/officeDocument/2006/relationships/notesMaster" Target="/ppt/notesMasters/notesMaster1.xml" Id="R8d2a757c354a42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2e428b0b2a4ede" /><Relationship Type="http://schemas.openxmlformats.org/officeDocument/2006/relationships/notesMaster" Target="/ppt/notesMasters/notesMaster1.xml" Id="Raec5ac8e53f843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a4344b6eee4fdf" /><Relationship Type="http://schemas.openxmlformats.org/officeDocument/2006/relationships/notesMaster" Target="/ppt/notesMasters/notesMaster1.xml" Id="Rca1de01d47f64d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bb3048edd847c5" /><Relationship Type="http://schemas.openxmlformats.org/officeDocument/2006/relationships/notesMaster" Target="/ppt/notesMasters/notesMaster1.xml" Id="R939d6b50fdfa46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b38fe948364d4f" /><Relationship Type="http://schemas.openxmlformats.org/officeDocument/2006/relationships/notesMaster" Target="/ppt/notesMasters/notesMaster1.xml" Id="Rbe5c065287ce43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47aa9241f84aaf" /><Relationship Type="http://schemas.openxmlformats.org/officeDocument/2006/relationships/notesMaster" Target="/ppt/notesMasters/notesMaster1.xml" Id="Raf6ac58ed56548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3d81f4683d4229" /><Relationship Type="http://schemas.openxmlformats.org/officeDocument/2006/relationships/notesMaster" Target="/ppt/notesMasters/notesMaster1.xml" Id="R3e9452dc53964c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95334881de4fdc" /><Relationship Type="http://schemas.openxmlformats.org/officeDocument/2006/relationships/notesMaster" Target="/ppt/notesMasters/notesMaster1.xml" Id="R62b8074370c041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418ae90191453a" /><Relationship Type="http://schemas.openxmlformats.org/officeDocument/2006/relationships/notesMaster" Target="/ppt/notesMasters/notesMaster1.xml" Id="R608735561c1a47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ed952dc0b5483d" /><Relationship Type="http://schemas.openxmlformats.org/officeDocument/2006/relationships/notesMaster" Target="/ppt/notesMasters/notesMaster1.xml" Id="Rb024319ac37f41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4723b474aec4d44" /><Relationship Type="http://schemas.openxmlformats.org/officeDocument/2006/relationships/notesMaster" Target="/ppt/notesMasters/notesMaster1.xml" Id="R7ec524fa5a454c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8c82e3637c4330" /><Relationship Type="http://schemas.openxmlformats.org/officeDocument/2006/relationships/notesMaster" Target="/ppt/notesMasters/notesMaster1.xml" Id="R7ddb8e8518fb43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9e2aee0d114396" /><Relationship Type="http://schemas.openxmlformats.org/officeDocument/2006/relationships/notesMaster" Target="/ppt/notesMasters/notesMaster1.xml" Id="Rb098b53a8b1144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9e9ac614e6d4691" /><Relationship Type="http://schemas.openxmlformats.org/officeDocument/2006/relationships/notesMaster" Target="/ppt/notesMasters/notesMaster1.xml" Id="R7834117c5bad45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d87967cce7c4480" /><Relationship Type="http://schemas.openxmlformats.org/officeDocument/2006/relationships/notesMaster" Target="/ppt/notesMasters/notesMaster1.xml" Id="R0508c1dd15e64aa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8fc8e4c38c46a8" /><Relationship Type="http://schemas.openxmlformats.org/officeDocument/2006/relationships/notesMaster" Target="/ppt/notesMasters/notesMaster1.xml" Id="R02f476b59407413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51f29d2386b4b63" /><Relationship Type="http://schemas.openxmlformats.org/officeDocument/2006/relationships/notesMaster" Target="/ppt/notesMasters/notesMaster1.xml" Id="R5198a48c9a8e4f8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c00d1c77494104" /><Relationship Type="http://schemas.openxmlformats.org/officeDocument/2006/relationships/notesMaster" Target="/ppt/notesMasters/notesMaster1.xml" Id="R890cfe7df47d490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5c0ef45b8342e5" /><Relationship Type="http://schemas.openxmlformats.org/officeDocument/2006/relationships/notesMaster" Target="/ppt/notesMasters/notesMaster1.xml" Id="R95507f7f873e467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e84f22652824f97" /><Relationship Type="http://schemas.openxmlformats.org/officeDocument/2006/relationships/notesMaster" Target="/ppt/notesMasters/notesMaster1.xml" Id="R5c399eed20634b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开场：TriSched 的交付目标不是单一策略，而是一套可训练、可插拔、可复现的调度系统。</a:t>
            </a:r>
          </a:p>
          <a:p xmlns:a="http://schemas.openxmlformats.org/drawingml/2006/main">
            <a:r>
              <a:t>本报告只使用赛题说明、项目源码/配置/测试/CI 和机器可读结果，不引用项目文档。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目录按评审决策顺序展开：先确认建模和接口，再看算法，再看证据和工程交付。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第一部分从输入、环境、Actor、GNN策略与PPO训练五个环节完整介绍模型。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项目背景来自云边端资源之间的计算与通信权衡。</a:t>
            </a:r>
          </a:p>
          <a:p xmlns:a="http://schemas.openxmlformats.org/drawingml/2006/main">
            <a:r>
              <a:t>DAG依赖使资源选择与执行时隙不能分开处理，调度器需要连续联合决策。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总体模型由确定性调度环境、图编码Actor、Critic/GAE/PPO训练和冻结评估构成。</a:t>
            </a:r>
          </a:p>
          <a:p xmlns:a="http://schemas.openxmlformats.org/drawingml/2006/main">
            <a:r>
              <a:t>环境负责硬约束，模型负责在合法动作集合中优化最终Makespan。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Scenario读取任务、依赖边、资源速度、带宽和时延；Env维护已排任务和资源时间线。</a:t>
            </a:r>
          </a:p>
          <a:p xmlns:a="http://schemas.openxmlformats.org/drawingml/2006/main">
            <a:r>
              <a:t>模型不直接修改DAG或生成非法动作，所有硬约束由环境执行。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每个状态重新生成候选集合，14维特征不使用HEFT提示。</a:t>
            </a:r>
          </a:p>
          <a:p xmlns:a="http://schemas.openxmlformats.org/drawingml/2006/main">
            <a:r>
              <a:t>训练阶段按masked softmax采样，冻结验证阶段确定性argmax。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GNN是Actor内部的图编码器，Critic、GAE和PPO构成强化学习更新闭环。</a:t>
            </a:r>
          </a:p>
          <a:p xmlns:a="http://schemas.openxmlformats.org/drawingml/2006/main">
            <a:r>
              <a:t>策略参数通过真实环境奖励更新，硬约束逻辑保持确定性。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第二部分深入解释图结构表征、动态合法动作、奖励对齐和稳定训练四项创新。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答辩重点：三项创新不是相互独立的插件。GNN改变Actor可见的信息，约束环境限定Actor可选的动作，增量奖励与PPO决定参数如何围绕最终Makespan更新。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C:/Users/admin/Desktop/15/sub-project/openos/trisched/gnn.py:302-406</a:t>
            </a:r>
          </a:p>
          <a:p xmlns:a="http://schemas.openxmlformats.org/drawingml/2006/main">
            <a:r>
              <a:t>- C:/Users/admin/Desktop/15/sub-project/openos/trisched/env.py:52-114</a:t>
            </a:r>
          </a:p>
          <a:p xmlns:a="http://schemas.openxmlformats.org/drawingml/2006/main">
            <a:r>
              <a:t>- C:/Users/admin/Desktop/15/sub-project/openos/trisched/ppo.py:1425-1483, 1691-1800</a:t>
            </a:r>
          </a:p>
          <a:p xmlns:a="http://schemas.openxmlformats.org/drawingml/2006/main">
            <a:r>
              <a:t>- C:/Users/admin/Desktop/15/sub-project/openos/trisched/bc.py:1210-1255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节点上下文与候选特征分别投影到32维后相加，图信息直接影响动作logit。</a:t>
            </a:r>
          </a:p>
          <a:p xmlns:a="http://schemas.openxmlformats.org/drawingml/2006/main">
            <a:r>
              <a:t>这解决了GNN按任务编码而Actor按任务—资源候选决策的粒度差异。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C:/Users/admin/Desktop/15/sub-project/openos/trisched/gnn.py:302-406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Actor采样轨迹，Critic估值，GAE构造优势，PPO裁剪更新Actor、GNN和Critic。</a:t>
            </a:r>
          </a:p>
          <a:p xmlns:a="http://schemas.openxmlformats.org/drawingml/2006/main">
            <a:r>
              <a:t>奖励采用增量Makespan并以同场景HEFT归一化，训练目标与最终评估指标一致。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C:/Users/admin/Desktop/15/sub-project/openos/trisched/ppo.py:675-693, 1425-1483, 1495-1604</a:t>
            </a:r>
          </a:p>
          <a:p xmlns:a="http://schemas.openxmlformats.org/drawingml/2006/main">
            <a:r>
              <a:t>- C:/Users/admin/Desktop/15/sub-project/openos/trisched/bc.py:1210-1255</a:t>
            </a:r>
          </a:p>
          <a:p xmlns:a="http://schemas.openxmlformats.org/drawingml/2006/main">
            <a:r>
              <a:t>- C:/Users/admin/Desktop/15/sub-project/openos/configs/stg_trisched_gnn_ppo.json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第三部分先展示训练过程和随机初始化差异，再展示与HEFT的直接对比。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第四部分展示当前代码回归、跨平台自动化验证和开发验证集结果。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当前源码的核心代码回归共 277 项通过，CI 覆盖两类系统和三个 Python 版本。</a:t>
            </a:r>
          </a:p>
          <a:p xmlns:a="http://schemas.openxmlformats.org/drawingml/2006/main">
            <a:r>
              <a:t>openEuler 使用固定版本镜像执行 CPU smoke；历史机器可读证据记录 status=pass、158 tests。</a:t>
            </a:r>
          </a:p>
          <a:p xmlns:a="http://schemas.openxmlformats.org/drawingml/2006/main">
            <a:r>
              <a:t>同一开发验证集上，GNN 点估计为 0.690，Masked MLP 为 0.723。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第五部分展示从命令入口到结果文件的完整运行路径。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无参数运行先校验完整冻结结果的文件大小和 SHA-256，再重建 HTML 与 SVG 可视化。</a:t>
            </a:r>
          </a:p>
          <a:p xmlns:a="http://schemas.openxmlformats.org/drawingml/2006/main">
            <a:r>
              <a:t>指定新的 --output 目录执行 benchmark 准备、两模型训练、统一验证、配对比较和结果落盘；--resume 支持从完整 PPO epoch 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无参数运行先校验完整冻结结果的文件大小和 SHA-256，再重建 HTML 与 SVG 可视化。</a:t>
            </a:r>
          </a:p>
          <a:p xmlns:a="http://schemas.openxmlformats.org/drawingml/2006/main">
            <a:r>
              <a:t>指定新的 --output 目录执行 benchmark 准备、两模型训练、统一验证、配对比较和结果落盘；--resume 支持从完整 PPO epoch 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收束：TriSched 的核心价值是让模型、启发式和外部策略在同一环境中被公平训练与评测。</a:t>
            </a:r>
          </a:p>
          <a:p xmlns:a="http://schemas.openxmlformats.org/drawingml/2006/main">
            <a:r>
              <a:t>最终交付覆盖可训练、可插拔、可复现和可审计四个工程目标。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66e7f9da04545" /><Relationship Type="http://schemas.openxmlformats.org/officeDocument/2006/relationships/image" Target="/ppt/media/image.jpeg" Id="R46818643763e442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fa984fc8542c2" /><Relationship Type="http://schemas.openxmlformats.org/officeDocument/2006/relationships/image" Target="/ppt/media/image.png" Id="R09a94166456b4bc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ea86b68ec346dc" /><Relationship Type="http://schemas.openxmlformats.org/officeDocument/2006/relationships/image" Target="/ppt/media/image.jpeg" Id="R2171eb667f9543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8ca9a081b943e9" /><Relationship Type="http://schemas.openxmlformats.org/officeDocument/2006/relationships/image" Target="/ppt/media/image.png" Id="Ra9fef675cf3b4cb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929ce0dd94e0c" /><Relationship Type="http://schemas.openxmlformats.org/officeDocument/2006/relationships/image" Target="/ppt/media/image.png" Id="R1ed3048f5c6547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503230e6448e3" /><Relationship Type="http://schemas.openxmlformats.org/officeDocument/2006/relationships/image" Target="/ppt/media/image.png" Id="R9c2c12350a784e6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887c268e34d98" /><Relationship Type="http://schemas.openxmlformats.org/officeDocument/2006/relationships/image" Target="/ppt/media/image.png" Id="R4636b7c04e70467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95aebc3f2433d" /><Relationship Type="http://schemas.openxmlformats.org/officeDocument/2006/relationships/image" Target="/ppt/media/image.jpeg" Id="R0f3ff61883d74c1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72c4008404abe" /><Relationship Type="http://schemas.openxmlformats.org/officeDocument/2006/relationships/image" Target="/ppt/media/image.png" Id="R5a62dd72889041e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b2f5aeea64b16" /><Relationship Type="http://schemas.openxmlformats.org/officeDocument/2006/relationships/image" Target="/ppt/media/image.png" Id="R2f53a06369d443b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d6edf89d2487e" /><Relationship Type="http://schemas.openxmlformats.org/officeDocument/2006/relationships/image" Target="/ppt/media/image.jpeg" Id="R461916e2be0d4d2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d38a98a8343e7" /><Relationship Type="http://schemas.openxmlformats.org/officeDocument/2006/relationships/image" Target="/ppt/media/image.png" Id="Rf00d49eb1a7e448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41947d6fa14344" /><Relationship Type="http://schemas.openxmlformats.org/officeDocument/2006/relationships/image" Target="/ppt/media/image.png" Id="Rf6ad3eb718d9447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9aa6989a443b5" /><Relationship Type="http://schemas.openxmlformats.org/officeDocument/2006/relationships/image" Target="/ppt/media/image.jpeg" Id="R28a2959538a04c3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539135d3b4b8b" /><Relationship Type="http://schemas.openxmlformats.org/officeDocument/2006/relationships/image" Target="/ppt/media/image.png" Id="Rabbb39de074b4d5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974c1a3b8c4860" /><Relationship Type="http://schemas.openxmlformats.org/officeDocument/2006/relationships/image" Target="/ppt/media/image.jpeg" Id="R4105e157d9a04c0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ca0fb8c9c4427" /><Relationship Type="http://schemas.openxmlformats.org/officeDocument/2006/relationships/image" Target="/ppt/media/image.png" Id="R36356d11ab2746d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9dcc52ad014748" /><Relationship Type="http://schemas.openxmlformats.org/officeDocument/2006/relationships/image" Target="/ppt/media/image.jpeg" Id="Rc2944975aa154f6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fc6e4bfbe84a8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fff6c416544f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e6fdff8b41435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fecb804204ea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57fc1bc404381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cb0f8f7f04893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74e07f7e244ef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13dccb4364d7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01a0e130d4b0b" /></Relationships>
</file>

<file path=ppt/slideLayouts/slideLayout1.xml><?xml version="1.0" encoding="utf-8"?>
<p:sldLayout xmlns:p="http://schemas.openxmlformats.org/presentationml/2006/main" preserve="1" userDrawn="1">
  <p:cSld name="标题幻灯片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18643763e442e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37" name="标题 1">
            <a:extLst xmlns:a="http://schemas.openxmlformats.org/drawingml/2006/main">
              <a:ext uri="{FF2B5EF4-FFF2-40B4-BE49-F238E27FC236}">
                <a16:creationId xmlns:a16="http://schemas.microsoft.com/office/drawing/2014/main" id="{1FC789CA-9FDA-4316-BF8A-9AF79389FF4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157605" y="1861820"/>
            <a:ext cx="9876790" cy="17589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 b="1" i="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单击此处编辑作品名称</a:t>
            </a:r>
          </a:p>
        </p:txBody>
      </p:sp>
      <p:sp>
        <p:nvSpPr>
          <p:cNvPr id="3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F1C9222-32C8-45A6-B4FD-6C5D2819F3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4AD73F2-2C1B-4330-8C67-5FAED18436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2460A9-66A4-4F51-AA19-09B1EDC66E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DA23B421-CD6A-48B6-AFE4-70960BF2566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099050" y="4641215"/>
            <a:ext cx="3993515" cy="29019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编辑队伍名称 禁止出现学校和成员信息</a:t>
            </a:r>
          </a:p>
        </p:txBody>
      </p:sp>
      <p:sp>
        <p:nvSpPr>
          <p:cNvPr id="7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B534535B-B986-4732-ACA1-0965C068705F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5099050" y="5077460"/>
            <a:ext cx="3992880" cy="29019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编辑完成日期 禁止出现学校和成员信息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9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1705B12A-198B-42A2-9C84-FBAF128563F4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3937218" y="4640664"/>
            <a:ext cx="1161805" cy="290369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参赛团队：</a:t>
            </a:r>
          </a:p>
        </p:txBody>
      </p:sp>
      <p:sp>
        <p:nvSpPr>
          <p:cNvPr id="54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032331BB-7578-488D-9C53-E5976012A818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937218" y="5077480"/>
            <a:ext cx="1161805" cy="29037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完成日期：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DA44F23F-9F6A-4EA5-8EB5-54AEC2FB55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861B643-F02E-41CF-BA93-C091178F26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3E2AD08-EA2A-4D88-86B0-6707BC8463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" name="标题 1">
            <a:extLst xmlns:a="http://schemas.openxmlformats.org/drawingml/2006/main">
              <a:ext uri="{FF2B5EF4-FFF2-40B4-BE49-F238E27FC236}">
                <a16:creationId xmlns:a16="http://schemas.microsoft.com/office/drawing/2014/main" id="{B9BB29C0-BECD-4391-9F1B-6B417056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40" y="3383508"/>
            <a:ext cx="3326176" cy="7075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3600" b="1">
                <a:solidFill>
                  <a:schemeClr val="tx2">
                    <a:lumMod val="5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4000">
                <a:solidFill>
                  <a:schemeClr val="tx2">
                    <a:lumMod val="20000"/>
                    <a:lumOff val="80000"/>
                    <a:alpha val="30000"/>
                  </a:schemeClr>
                </a:solidFill>
              </a:rPr>
              <a:t>CONTENTS</a:t>
            </a:r>
          </a:p>
        </p:txBody>
      </p:sp>
      <p:sp>
        <p:nvSpPr>
          <p:cNvPr id="112" name="标题 1">
            <a:extLst xmlns:a="http://schemas.openxmlformats.org/drawingml/2006/main">
              <a:ext uri="{FF2B5EF4-FFF2-40B4-BE49-F238E27FC236}">
                <a16:creationId xmlns:a16="http://schemas.microsoft.com/office/drawing/2014/main" id="{2BB70AC0-56DC-4206-B6A9-78B46D5E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75" y="2361991"/>
            <a:ext cx="4978706" cy="10215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3600" b="1">
                <a:solidFill>
                  <a:schemeClr val="tx2">
                    <a:lumMod val="5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r>
              <a:rPr sz="6600">
                <a:solidFill>
                  <a:srgbClr val="080A12"/>
                </a:solidFill>
              </a:rPr>
              <a:t>目录</a:t>
            </a:r>
          </a:p>
        </p:txBody>
      </p:sp>
      <p:pic>
        <p:nvPicPr>
          <p:cNvPr id="119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94166456b4bc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1eb667f9543ba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5868029-31F7-4583-98E7-4EBD60E084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41E48DD-57FA-4769-9B13-F221C99E04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46E7AB3-5719-4125-BBC4-B987EA708B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标题 1">
            <a:extLst xmlns:a="http://schemas.openxmlformats.org/drawingml/2006/main">
              <a:ext uri="{FF2B5EF4-FFF2-40B4-BE49-F238E27FC236}">
                <a16:creationId xmlns:a16="http://schemas.microsoft.com/office/drawing/2014/main" id="{B28546A4-8C3F-4674-A513-832E963C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591380"/>
            <a:ext cx="2661920" cy="8388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0000" tIns="45720" rIns="91440" bIns="45720" anchor="ctr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01</a:t>
            </a:r>
          </a:p>
        </p:txBody>
      </p:sp>
      <p:sp>
        <p:nvSpPr>
          <p:cNvPr id="29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252BF0F2-6A73-4B1F-B422-94440ABA8FE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92421" y="2453241"/>
            <a:ext cx="4304799" cy="1115113"/>
          </a:xfrm>
        </p:spPr>
        <p:txBody>
          <a:bodyPr xmlns:a="http://schemas.openxmlformats.org/drawingml/2006/main" lIns="90000" anchor="ctr">
            <a:noAutofit/>
          </a:bodyPr>
          <a:lstStyle xmlns:a="http://schemas.openxmlformats.org/drawingml/2006/main"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项目介绍</a:t>
            </a:r>
          </a:p>
        </p:txBody>
      </p:sp>
      <p:sp>
        <p:nvSpPr>
          <p:cNvPr id="42" name="文本占位符 41">
            <a:extLst xmlns:a="http://schemas.openxmlformats.org/drawingml/2006/main">
              <a:ext uri="{FF2B5EF4-FFF2-40B4-BE49-F238E27FC236}">
                <a16:creationId xmlns:a16="http://schemas.microsoft.com/office/drawing/2014/main" id="{9DE72E25-65DB-4A7A-8A81-C13FC450311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330450" y="3770630"/>
            <a:ext cx="7531100" cy="97218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2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231AA70-5AA9-475F-AEC7-EA75BAA823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8D7B12D-38CE-4261-A361-6B3A30452A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2BF1DA9-34C5-4250-AD11-D30F9A4AEA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9492E2D4-21BB-4639-9A85-C42E324F4C19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25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B8FC1495-55F8-4630-8615-A37E2624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89B636E9-924E-46DA-AD07-2A647A9F2B8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1.1 设计背景</a:t>
            </a: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B5FEED7-706C-4EFB-B7CB-79ED0AC8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ef675cf3b4cba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preserve="1" userDrawn="1">
  <p:cSld name="3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8770297-7F8A-4008-B99D-1A75B6E9FE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157E6B2-0FBD-4216-8F19-87D8435F45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579B98-CA24-4781-9D29-09EAD3B8D9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CF67EA87-3181-491A-80F3-6E83D8CF4F7F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3DEA0518-7714-47A7-A234-2D35E568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84605482-39FE-4309-8955-901B568ADD8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1.2 设计目标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10DDD4AC-4EE4-472C-84D8-0853CC1F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3048f5c65474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preserve="1" userDrawn="1">
  <p:cSld name="4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C7928C0-55DB-45F4-88FE-3B65D0F102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6FF2A3A-5E73-40F5-B638-E2B7AD0F58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3D6D9D8-6867-4EE6-AEC0-AE7648A7C0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90880E79-59E7-4790-9BC1-080CEAAB944E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6132BC3D-CC79-4628-8A71-D5B3CA60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0004BD66-9AC2-4CAE-823A-809B87C7CBC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1.3 设计简介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6BACFE98-3334-4827-A176-16E7DC68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c12350a784e6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5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54B5282-A65B-4721-A38D-A8AAEE4D28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05C4384-FC42-44BF-89D3-18FD0BE50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AFCC0F9-D9A4-4147-8A0E-A6220F79B1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9F74C643-815F-406C-AEFE-1DA95D2F115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100975CE-145E-4E81-82A9-2DCAB950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69012745-CD6F-42F8-B9C3-DA5A8D3BC47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1.4 作品原创性情况说明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346009E2-5733-40C9-BC5E-5D2703F7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6b7c04e70467a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preserve="1" userDrawn="1">
  <p:cSld name="6_仅标题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ff61883d74c12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55A2792-3F36-4483-90BF-C8EEC406B1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1F81D5A-258E-4957-92F0-5E3158C84C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6B4E8CB-56DA-4088-8057-9083D52F9E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标题 1">
            <a:extLst xmlns:a="http://schemas.openxmlformats.org/drawingml/2006/main">
              <a:ext uri="{FF2B5EF4-FFF2-40B4-BE49-F238E27FC236}">
                <a16:creationId xmlns:a16="http://schemas.microsoft.com/office/drawing/2014/main" id="{B196142E-AE00-4A3C-AEAC-FBAA51A5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591380"/>
            <a:ext cx="2661920" cy="8388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0000" tIns="45720" rIns="91440" bIns="45720" anchor="ctr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02</a:t>
            </a:r>
          </a:p>
        </p:txBody>
      </p:sp>
      <p:sp>
        <p:nvSpPr>
          <p:cNvPr id="15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97592468-FC6D-4D7B-85FE-CFD1FE372D5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92421" y="2453241"/>
            <a:ext cx="4304799" cy="1115113"/>
          </a:xfrm>
        </p:spPr>
        <p:txBody>
          <a:bodyPr xmlns:a="http://schemas.openxmlformats.org/drawingml/2006/main" lIns="90000" anchor="ctr">
            <a:noAutofit/>
          </a:bodyPr>
          <a:lstStyle xmlns:a="http://schemas.openxmlformats.org/drawingml/2006/main"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项目亮点</a:t>
            </a:r>
          </a:p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BA370BD7-2306-451D-BC44-A639CCBEEEC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330450" y="3770630"/>
            <a:ext cx="7531100" cy="97218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7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FCDB102-E9A6-4DAA-8FD1-860BCF4B63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14DE05A-B294-4F68-89FD-9FF077A4B9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F421C97-DE70-4F12-BCC9-010DA75F66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5EC1B66B-F3E7-4090-BE92-C736304353B7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650CAAD3-8F94-44D7-A692-A49D1FAB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4217C8BA-CE18-4D78-A1F9-47DB019D90A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2.1 功能亮点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16F0D6D8-7F6A-4754-9034-AFD0217A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2dd72889041e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preserve="1" userDrawn="1">
  <p:cSld name="8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C50AC25-FF9F-4B0A-A700-567AF8EBE2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A471198-45C0-4F0F-80F9-145D643812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AB0E0F-2323-4879-BDB3-969F0E8DDB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6333D447-A9DD-42C9-84E7-C0F6BC4D475F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3787329C-12C2-4BE3-9737-7C139171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23ADD1CD-EE41-45ED-B248-DA61B179E76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2.2 XX亮点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B604494C-08D1-4650-A3C7-2E69FAC9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3a06369d443b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preserve="1" userDrawn="1">
  <p:cSld name="9_仅标题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916e2be0d4d2e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15" name="标题 1">
            <a:extLst xmlns:a="http://schemas.openxmlformats.org/drawingml/2006/main">
              <a:ext uri="{FF2B5EF4-FFF2-40B4-BE49-F238E27FC236}">
                <a16:creationId xmlns:a16="http://schemas.microsoft.com/office/drawing/2014/main" id="{D4103DA6-A69F-4698-8CF5-A4D5223B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591380"/>
            <a:ext cx="2661920" cy="8388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0000" tIns="45720" rIns="91440" bIns="45720" anchor="ctr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03</a:t>
            </a:r>
          </a:p>
        </p:txBody>
      </p:sp>
      <p:sp>
        <p:nvSpPr>
          <p:cNvPr id="16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C0CAD1E6-993E-43B2-8459-F9DFAF30652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92421" y="2453241"/>
            <a:ext cx="4304799" cy="1115113"/>
          </a:xfrm>
        </p:spPr>
        <p:txBody>
          <a:bodyPr xmlns:a="http://schemas.openxmlformats.org/drawingml/2006/main" lIns="90000" anchor="ctr">
            <a:noAutofit/>
          </a:bodyPr>
          <a:lstStyle xmlns:a="http://schemas.openxmlformats.org/drawingml/2006/main"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技术难点</a:t>
            </a:r>
          </a:p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091DBD5E-32C3-4A12-9EB9-CB55210744B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330450" y="3770630"/>
            <a:ext cx="7531100" cy="97218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10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1ACBCAE-240B-4364-965C-7077195E09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759AB70-B52C-47F1-B710-BCB1889EDE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8D59BC4-165A-4FF4-90C5-134EB09D80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53287168-0E3C-4EF9-8F54-B0A5B0D9535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97E0FC79-044D-4915-BE51-27F8DB91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F738B165-2E6B-48FB-8677-C62C5F6CB38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3.1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6FBF26C9-F582-4A24-A75B-17A21E45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d49eb1a7e448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preserve="1" userDrawn="1">
  <p:cSld name="11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E7287CF-2EB5-4B41-B8CE-6DD5D16CA5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29B373D-503C-4A6A-82CF-CCC8085371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D617F5B-3365-48F4-8BFF-0AF468FE74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C55C8265-B21C-4FED-86E0-EF93E8534C8E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C312519F-F48B-45F5-B58F-EE2550DC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1549ADA0-A732-4B70-A5E5-6C58EC1F7CC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3.2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4598C801-C068-4170-9E92-B65D5F87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ad3eb718d9447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preserve="1" userDrawn="1">
  <p:cSld name="12_仅标题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2959538a04c39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15" name="标题 1">
            <a:extLst xmlns:a="http://schemas.openxmlformats.org/drawingml/2006/main">
              <a:ext uri="{FF2B5EF4-FFF2-40B4-BE49-F238E27FC236}">
                <a16:creationId xmlns:a16="http://schemas.microsoft.com/office/drawing/2014/main" id="{466E00FD-E0C1-40F8-BFAF-3AB327CD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591380"/>
            <a:ext cx="2661920" cy="8388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0000" tIns="45720" rIns="91440" bIns="45720" anchor="ctr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04</a:t>
            </a:r>
          </a:p>
        </p:txBody>
      </p:sp>
      <p:sp>
        <p:nvSpPr>
          <p:cNvPr id="16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E727B462-C517-4130-B29E-3C1BCF986C8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92421" y="2453241"/>
            <a:ext cx="4304799" cy="1115113"/>
          </a:xfrm>
        </p:spPr>
        <p:txBody>
          <a:bodyPr xmlns:a="http://schemas.openxmlformats.org/drawingml/2006/main" lIns="90000" anchor="ctr">
            <a:noAutofit/>
          </a:bodyPr>
          <a:lstStyle xmlns:a="http://schemas.openxmlformats.org/drawingml/2006/main"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项目测试</a:t>
            </a:r>
          </a:p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DAC55076-F0A1-4628-8E2D-EE5C27BDC9B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330450" y="3770630"/>
            <a:ext cx="7531100" cy="97218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3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B610A80-501B-4E6F-BF15-75F81F9E5C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B25A645D-7D44-49A1-8090-D8DCF9BBAF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76DD84B-320C-4C6C-9EC5-7DB4C6E269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内容占位符 8">
            <a:extLst xmlns:a="http://schemas.openxmlformats.org/drawingml/2006/main">
              <a:ext uri="{FF2B5EF4-FFF2-40B4-BE49-F238E27FC236}">
                <a16:creationId xmlns:a16="http://schemas.microsoft.com/office/drawing/2014/main" id="{EED186CB-0865-446E-A50E-96E59F2F2A87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529218" y="1445886"/>
            <a:ext cx="11133563" cy="462202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96362B76-6D40-4EC0-A4E2-296B324D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D318594E-AFF1-4E66-948A-09B8D5775BE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4.1 项目测试结果说明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D2D0403C-264A-41E4-85E3-9B531A83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b39de074b4d5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6.xml><?xml version="1.0" encoding="utf-8"?>
<p:sldLayout xmlns:p="http://schemas.openxmlformats.org/presentationml/2006/main" preserve="1" userDrawn="1">
  <p:cSld name="14_仅标题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5e157d9a04c0f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C7C89CF-E718-43CD-BF70-DCFA2D03C9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9CA27D2-1621-4CFB-A97B-F741098FB1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7ED8B6C6-AA86-496E-BBBB-2D36BBDBB5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标题 1">
            <a:extLst xmlns:a="http://schemas.openxmlformats.org/drawingml/2006/main">
              <a:ext uri="{FF2B5EF4-FFF2-40B4-BE49-F238E27FC236}">
                <a16:creationId xmlns:a16="http://schemas.microsoft.com/office/drawing/2014/main" id="{1BBDB748-B254-420E-8465-655B2C52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591380"/>
            <a:ext cx="2661920" cy="8388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0000" tIns="45720" rIns="91440" bIns="45720" anchor="ctr">
            <a:spAutoFit/>
          </a:bodyPr>
          <a:lstStyle xmlns:a="http://schemas.openxmlformats.org/drawingml/2006/main">
            <a:lvl1pPr algn="ctr">
              <a:lnSpc>
                <a:spcPct val="90000"/>
              </a:lnSpc>
              <a:buNone/>
              <a:defRPr sz="8800" b="1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r">
              <a:buNone/>
            </a:pPr>
            <a:r>
              <a:rPr sz="5400" b="1" cap="none">
                <a:ln w="6600">
                  <a:noFill/>
                  <a:prstDash val="solid"/>
                </a:ln>
                <a:solidFill>
                  <a:schemeClr val="bg1"/>
                </a:solidFill>
              </a:rPr>
              <a:t>Part 05</a:t>
            </a:r>
          </a:p>
        </p:txBody>
      </p:sp>
      <p:sp>
        <p:nvSpPr>
          <p:cNvPr id="16" name="文本占位符 17">
            <a:extLst xmlns:a="http://schemas.openxmlformats.org/drawingml/2006/main">
              <a:ext uri="{FF2B5EF4-FFF2-40B4-BE49-F238E27FC236}">
                <a16:creationId xmlns:a16="http://schemas.microsoft.com/office/drawing/2014/main" id="{91A1AA2F-5E46-4752-AEDC-476EBDE797C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192421" y="2453241"/>
            <a:ext cx="4304799" cy="1115113"/>
          </a:xfrm>
        </p:spPr>
        <p:txBody>
          <a:bodyPr xmlns:a="http://schemas.openxmlformats.org/drawingml/2006/main" lIns="90000" anchor="ctr">
            <a:noAutofit/>
          </a:bodyPr>
          <a:lstStyle xmlns:a="http://schemas.openxmlformats.org/drawingml/2006/main">
            <a:lvl1pPr marL="0" indent="0" algn="l">
              <a:buNone/>
              <a:defRPr sz="6600" b="1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作品演示</a:t>
            </a:r>
          </a:p>
        </p:txBody>
      </p:sp>
      <p:sp>
        <p:nvSpPr>
          <p:cNvPr id="17" name="文本占位符 16">
            <a:extLst xmlns:a="http://schemas.openxmlformats.org/drawingml/2006/main">
              <a:ext uri="{FF2B5EF4-FFF2-40B4-BE49-F238E27FC236}">
                <a16:creationId xmlns:a16="http://schemas.microsoft.com/office/drawing/2014/main" id="{FD804DC6-4999-492A-A960-E02B7BDDDF1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2330450" y="3770630"/>
            <a:ext cx="7531100" cy="97218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r">
              <a:lnSpc>
                <a:spcPct val="150000"/>
              </a:lnSpc>
              <a:buNone/>
              <a:defRPr sz="140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单击编辑文本，文字是您思想的提炼，为了最终演示的良好效果，请尽量言简意赅的阐述观点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15_仅标题">
    <p:bg>
      <p:bgPr>
        <a:solidFill xmlns:a="http://schemas.openxmlformats.org/drawingml/2006/main">
          <a:srgbClr val="F0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2226942-1713-4E18-9BE5-79BA458CD5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F69451D-282E-41E2-947F-7A9B92EB3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107E42D-DCCD-4C2F-8EBC-F34B674A73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媒体占位符 5">
            <a:extLst xmlns:a="http://schemas.openxmlformats.org/drawingml/2006/main">
              <a:ext uri="{FF2B5EF4-FFF2-40B4-BE49-F238E27FC236}">
                <a16:creationId xmlns:a16="http://schemas.microsoft.com/office/drawing/2014/main" id="{A1224C2F-04C4-4312-BA17-2334482BFCE2}"/>
              </a:ext>
            </a:extLst>
          </p:cNvPr>
          <p:cNvSpPr>
            <a:spLocks xmlns:a="http://schemas.openxmlformats.org/drawingml/2006/main" noGrp="1"/>
          </p:cNvSpPr>
          <p:nvPr>
            <p:ph type="media" idx="15"/>
          </p:nvPr>
        </p:nvSpPr>
        <p:spPr>
          <a:xfrm xmlns:a="http://schemas.openxmlformats.org/drawingml/2006/main">
            <a:off x="529218" y="1419861"/>
            <a:ext cx="11133563" cy="464805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rgbClr val="090509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/>
        </p:txBody>
      </p:sp>
      <p:sp>
        <p:nvSpPr>
          <p:cNvPr id="8" name="任意形状 24">
            <a:extLst xmlns:a="http://schemas.openxmlformats.org/drawingml/2006/main">
              <a:ext uri="{FF2B5EF4-FFF2-40B4-BE49-F238E27FC236}">
                <a16:creationId xmlns:a16="http://schemas.microsoft.com/office/drawing/2014/main" id="{023D259B-43C3-4E83-B3D5-25CC232E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6533215"/>
            <a:ext cx="12192553" cy="214286"/>
          </a:xfrm>
          <a:custGeom xmlns:a="http://schemas.openxmlformats.org/drawingml/2006/main">
            <a:rect l="l" t="t" r="r" b="b"/>
            <a:pathLst>
              <a:path w="12192553" h="214286">
                <a:moveTo>
                  <a:pt x="12080953" y="0"/>
                </a:moveTo>
                <a:lnTo>
                  <a:pt x="12192553" y="0"/>
                </a:lnTo>
                <a:lnTo>
                  <a:pt x="12192553" y="214286"/>
                </a:lnTo>
                <a:lnTo>
                  <a:pt x="12080953" y="214286"/>
                </a:lnTo>
                <a:close/>
                <a:moveTo>
                  <a:pt x="11883483" y="0"/>
                </a:moveTo>
                <a:lnTo>
                  <a:pt x="11995083" y="0"/>
                </a:lnTo>
                <a:lnTo>
                  <a:pt x="11995083" y="214286"/>
                </a:lnTo>
                <a:lnTo>
                  <a:pt x="11883483" y="214286"/>
                </a:lnTo>
                <a:close/>
                <a:moveTo>
                  <a:pt x="11686013" y="0"/>
                </a:moveTo>
                <a:lnTo>
                  <a:pt x="11797613" y="0"/>
                </a:lnTo>
                <a:lnTo>
                  <a:pt x="11797613" y="214286"/>
                </a:lnTo>
                <a:lnTo>
                  <a:pt x="11686013" y="214286"/>
                </a:lnTo>
                <a:close/>
                <a:moveTo>
                  <a:pt x="0" y="0"/>
                </a:moveTo>
                <a:lnTo>
                  <a:pt x="11588399" y="0"/>
                </a:lnTo>
                <a:lnTo>
                  <a:pt x="11588399" y="214286"/>
                </a:lnTo>
                <a:lnTo>
                  <a:pt x="0" y="214286"/>
                </a:lnTo>
                <a:close/>
              </a:path>
            </a:pathLst>
          </a:custGeom>
          <a:gradFill xmlns:a="http://schemas.openxmlformats.org/drawingml/2006/main">
            <a:gsLst>
              <a:gs pos="100000">
                <a:srgbClr val="642FFF"/>
              </a:gs>
              <a:gs pos="0">
                <a:srgbClr val="254FEB"/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标题 11">
            <a:extLst xmlns:a="http://schemas.openxmlformats.org/drawingml/2006/main">
              <a:ext uri="{FF2B5EF4-FFF2-40B4-BE49-F238E27FC236}">
                <a16:creationId xmlns:a16="http://schemas.microsoft.com/office/drawing/2014/main" id="{BF61E62C-73D6-4882-9310-236C8CD78D0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600" b="1">
                <a:solidFill>
                  <a:srgbClr val="254FEB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5.1 作品演示播放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14519CBF-6FA4-4F1E-AB4B-D3E5B8CE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80" y="1022985"/>
            <a:ext cx="793750" cy="78105"/>
          </a:xfrm>
          <a:custGeom xmlns:a="http://schemas.openxmlformats.org/drawingml/2006/main">
            <a:rect l="l" t="t" r="r" b="b"/>
            <a:pathLst>
              <a:path w="1250" h="123">
                <a:moveTo>
                  <a:pt x="0" y="123"/>
                </a:moveTo>
                <a:lnTo>
                  <a:pt x="104" y="0"/>
                </a:lnTo>
                <a:lnTo>
                  <a:pt x="218" y="0"/>
                </a:lnTo>
                <a:lnTo>
                  <a:pt x="114" y="123"/>
                </a:lnTo>
                <a:lnTo>
                  <a:pt x="0" y="123"/>
                </a:lnTo>
                <a:close/>
                <a:moveTo>
                  <a:pt x="172" y="123"/>
                </a:moveTo>
                <a:lnTo>
                  <a:pt x="276" y="0"/>
                </a:lnTo>
                <a:lnTo>
                  <a:pt x="390" y="0"/>
                </a:lnTo>
                <a:lnTo>
                  <a:pt x="286" y="123"/>
                </a:lnTo>
                <a:lnTo>
                  <a:pt x="172" y="123"/>
                </a:lnTo>
                <a:close/>
                <a:moveTo>
                  <a:pt x="344" y="123"/>
                </a:moveTo>
                <a:lnTo>
                  <a:pt x="448" y="0"/>
                </a:lnTo>
                <a:lnTo>
                  <a:pt x="562" y="0"/>
                </a:lnTo>
                <a:lnTo>
                  <a:pt x="458" y="123"/>
                </a:lnTo>
                <a:lnTo>
                  <a:pt x="344" y="123"/>
                </a:lnTo>
                <a:close/>
                <a:moveTo>
                  <a:pt x="516" y="123"/>
                </a:moveTo>
                <a:lnTo>
                  <a:pt x="620" y="0"/>
                </a:lnTo>
                <a:lnTo>
                  <a:pt x="734" y="0"/>
                </a:lnTo>
                <a:lnTo>
                  <a:pt x="630" y="123"/>
                </a:lnTo>
                <a:lnTo>
                  <a:pt x="516" y="123"/>
                </a:lnTo>
                <a:close/>
                <a:moveTo>
                  <a:pt x="688" y="123"/>
                </a:moveTo>
                <a:lnTo>
                  <a:pt x="792" y="0"/>
                </a:lnTo>
                <a:lnTo>
                  <a:pt x="906" y="0"/>
                </a:lnTo>
                <a:lnTo>
                  <a:pt x="802" y="123"/>
                </a:lnTo>
                <a:lnTo>
                  <a:pt x="688" y="123"/>
                </a:lnTo>
                <a:close/>
                <a:moveTo>
                  <a:pt x="860" y="123"/>
                </a:moveTo>
                <a:lnTo>
                  <a:pt x="964" y="0"/>
                </a:lnTo>
                <a:lnTo>
                  <a:pt x="1078" y="0"/>
                </a:lnTo>
                <a:lnTo>
                  <a:pt x="974" y="123"/>
                </a:lnTo>
                <a:lnTo>
                  <a:pt x="860" y="123"/>
                </a:lnTo>
                <a:close/>
                <a:moveTo>
                  <a:pt x="1032" y="123"/>
                </a:moveTo>
                <a:lnTo>
                  <a:pt x="1136" y="0"/>
                </a:lnTo>
                <a:lnTo>
                  <a:pt x="1250" y="0"/>
                </a:lnTo>
                <a:lnTo>
                  <a:pt x="1146" y="123"/>
                </a:lnTo>
                <a:lnTo>
                  <a:pt x="1032" y="123"/>
                </a:lnTo>
                <a:close/>
              </a:path>
            </a:pathLst>
          </a:custGeom>
          <a:gradFill xmlns:a="http://schemas.openxmlformats.org/drawingml/2006/main">
            <a:gsLst>
              <a:gs pos="29000">
                <a:srgbClr val="254FEB"/>
              </a:gs>
              <a:gs pos="100000">
                <a:srgbClr val="254FEB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56d11ab2746d0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5705" y="137795"/>
            <a:ext cx="3376291" cy="5976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8.xml><?xml version="1.0" encoding="utf-8"?>
<p:sldLayout xmlns:p="http://schemas.openxmlformats.org/presentationml/2006/main" preserve="1" userDrawn="1">
  <p:cSld name="2_标题幻灯片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944975aa154f69"/>
          <a:srcRect xmlns:a="http://schemas.openxmlformats.org/drawingml/2006/main" l="5" t="0" r="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0730" cy="6858000"/>
          </a:xfrm>
          <a:prstGeom xmlns:a="http://schemas.openxmlformats.org/drawingml/2006/main" prst="rect">
            <a:avLst/>
          </a:prstGeom>
        </p:spPr>
      </p:pic>
      <p:sp>
        <p:nvSpPr>
          <p:cNvPr id="37" name="标题 1">
            <a:extLst xmlns:a="http://schemas.openxmlformats.org/drawingml/2006/main">
              <a:ext uri="{FF2B5EF4-FFF2-40B4-BE49-F238E27FC236}">
                <a16:creationId xmlns:a16="http://schemas.microsoft.com/office/drawing/2014/main" id="{A260B1F0-4AEF-4351-9312-C58D48036879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157605" y="1861820"/>
            <a:ext cx="9876790" cy="17589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 b="1" i="0">
                <a:solidFill>
                  <a:schemeClr val="bg1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单击此处编辑结束语</a:t>
            </a:r>
          </a:p>
        </p:txBody>
      </p:sp>
      <p:sp>
        <p:nvSpPr>
          <p:cNvPr id="3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A848E65-F663-474E-997E-68F1447A2D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9872468-0B75-473C-BE56-97AA5D5E3B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743078D-2C34-4EE1-8414-E1E64AB8E3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DD687FD6-1A35-4E12-93D3-6A0E75EB8A6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5099050" y="4641215"/>
            <a:ext cx="3866515" cy="29019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编辑队伍名称 禁止出现学校和成员信息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7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E5AB6F4A-B61A-4221-870F-7E26A8492384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5099050" y="5077460"/>
            <a:ext cx="3866515" cy="29019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编辑完成日期 禁止出现学校和成员信息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9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38A6D63A-D67B-4804-A9E0-B17423906204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3937218" y="4640664"/>
            <a:ext cx="1161805" cy="290369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参赛团队：</a:t>
            </a:r>
          </a:p>
        </p:txBody>
      </p:sp>
      <p:sp>
        <p:nvSpPr>
          <p:cNvPr id="54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ACDC33AD-BF6A-4EF7-9741-B3CC64FEE085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3937218" y="5077480"/>
            <a:ext cx="1161805" cy="290371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00">
                <a:latin typeface="+mj-ea"/>
                <a:ea typeface="+mj-ea"/>
                <a:cs typeface="+mj-ea"/>
              </a:defRPr>
            </a:lvl2pPr>
            <a:lvl3pPr>
              <a:buNone/>
              <a:defRPr sz="2000">
                <a:latin typeface="+mj-ea"/>
                <a:ea typeface="+mj-ea"/>
                <a:cs typeface="+mj-ea"/>
              </a:defRPr>
            </a:lvl3pPr>
            <a:lvl4pPr>
              <a:buNone/>
              <a:defRPr sz="2000">
                <a:latin typeface="+mj-ea"/>
                <a:ea typeface="+mj-ea"/>
                <a:cs typeface="+mj-ea"/>
              </a:defRPr>
            </a:lvl4pPr>
            <a:lvl5pPr>
              <a:buNone/>
              <a:defRPr sz="2000">
                <a:latin typeface="+mj-ea"/>
                <a:ea typeface="+mj-ea"/>
                <a:cs typeface="+mj-ea"/>
              </a:defRPr>
            </a:lvl5pPr>
          </a:lstStyle>
          <a:p xmlns:a="http://schemas.openxmlformats.org/drawingml/2006/main">
            <a:pPr>
              <a:buNone/>
            </a:pPr>
            <a:r>
              <a:t>完成日期：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704D105-BA07-4229-84F2-86991A473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423B03E-0845-40AA-8ADF-BE32AEFC7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A1670D-75C9-4194-8424-5ACD54E479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69B8FCA-C338-4B3E-963E-8B3A14EF9C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0790229-CA5D-49C1-984D-AAF9A4033A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333DEE6-7BC3-46A4-A6D4-38D50F9363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0177D22-88B1-41B9-B5F7-12FB1627FF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1619B6E-7F09-47B9-8E64-28D05A7AAC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4B2C55B-2471-4A6A-AA9D-74BF3415A1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FA6B17-8383-4081-95F1-62BD6A95C6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66A7980-B19F-471D-8EAA-4C181AE7C2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6897381-1F5E-49B3-8A69-188B23526BE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DCFF350-E322-4188-AE50-EC911F1154E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D8711FC-CC0C-4E1B-A537-4F35C98909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137C554-4B94-4EEC-BF9E-84520866E1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39C2BD5-29BF-4B8D-BFB9-DBAA7E1A2E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16691F5-1133-4796-9DE3-F1BD09797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5AC7D6B-2C5F-45FA-A70B-B410FD2193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FFCFC62-4CC9-42CE-8CFB-510E2BE696A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356FAFC3-6C50-4842-8C36-CFD323BF130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3FC7E2B0-F5AB-4E45-A008-95DEB85C81B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917A0A3-5C5F-43D8-87D5-722F3182C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8128D7B-16F4-4FE1-994C-B66FCDC08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9E1AFE5-3890-47E1-8F99-5305ACD582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9821973-2294-49C8-B6F5-0E3DCC7504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67E8150-07A1-4A60-AA94-D5D5331B45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A39187-8A96-4DF5-AF66-F8925E1E76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4024B72-9577-4E98-85F8-4DAC190E7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5CB836B-974A-44C6-8E00-9061EBC66B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15B6C6B-A9AA-43C9-ACB7-6219678995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7D81BA7-3449-4D5B-959B-A34A9C561B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E2837F6-654E-4C01-B93C-60081CD623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413AA42-14DD-4134-81FB-F1AE89A33B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9F62381-D269-4907-B2BD-8AE859F7C6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28A70ED4-DA18-47B7-B80B-A4F6E27F085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1EC84E9-E6A2-43D2-BB54-B1D51428233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7D5887F-65B8-4BE5-B3F7-898E3A64F5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9985606-DD13-4E37-97DA-750A4A821B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599D60E-66CC-44AF-B8C8-D7D6508E6D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24A43A9-8CF4-457F-B021-56520E1633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0CB509AD-3645-4BCE-A9DD-953AE19152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CC9051-98BA-4201-AAB3-1ED008425B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D6CB11A-A503-4185-B1AF-14580D47A6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2DD69D-793D-4F98-A31D-EA02863A3B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7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947E2DE7-4789-4674-A552-655CB3575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45D5389-219C-4300-A11A-EB23ED00F1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764FCF-9C14-4C1F-9FFD-D620FC17CA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80533FF-86B6-4BC4-81FF-A9782468C6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576BF3-D4B2-4F67-B907-8B81B58976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7f088a63cc41a6" /><Relationship Type="http://schemas.openxmlformats.org/officeDocument/2006/relationships/slideLayout" Target="/ppt/slideLayouts/slideLayout1.xml" Id="R39e2e7bcdf464a91" /><Relationship Type="http://schemas.openxmlformats.org/officeDocument/2006/relationships/slideLayout" Target="/ppt/slideLayouts/slideLayout2.xml" Id="Rb8d80fc22ee84049" /><Relationship Type="http://schemas.openxmlformats.org/officeDocument/2006/relationships/slideLayout" Target="/ppt/slideLayouts/slideLayout3.xml" Id="Rbc607c34516b4622" /><Relationship Type="http://schemas.openxmlformats.org/officeDocument/2006/relationships/slideLayout" Target="/ppt/slideLayouts/slideLayout4.xml" Id="Rf53f91ad5cbd444b" /><Relationship Type="http://schemas.openxmlformats.org/officeDocument/2006/relationships/slideLayout" Target="/ppt/slideLayouts/slideLayout5.xml" Id="Re22e060ea4144f05" /><Relationship Type="http://schemas.openxmlformats.org/officeDocument/2006/relationships/slideLayout" Target="/ppt/slideLayouts/slideLayout6.xml" Id="R94d249640aab4e48" /><Relationship Type="http://schemas.openxmlformats.org/officeDocument/2006/relationships/slideLayout" Target="/ppt/slideLayouts/slideLayout7.xml" Id="Rc95634f0b3ed44e4" /><Relationship Type="http://schemas.openxmlformats.org/officeDocument/2006/relationships/slideLayout" Target="/ppt/slideLayouts/slideLayout8.xml" Id="R3675441f4ca34837" /><Relationship Type="http://schemas.openxmlformats.org/officeDocument/2006/relationships/slideLayout" Target="/ppt/slideLayouts/slideLayout9.xml" Id="R03f73f74597d4d0d" /><Relationship Type="http://schemas.openxmlformats.org/officeDocument/2006/relationships/slideLayout" Target="/ppt/slideLayouts/slideLayout10.xml" Id="Rc6c374ff59eb46f1" /><Relationship Type="http://schemas.openxmlformats.org/officeDocument/2006/relationships/slideLayout" Target="/ppt/slideLayouts/slideLayout11.xml" Id="R131432446bf2442f" /><Relationship Type="http://schemas.openxmlformats.org/officeDocument/2006/relationships/slideLayout" Target="/ppt/slideLayouts/slideLayout12.xml" Id="Ra609bf302d394bf4" /><Relationship Type="http://schemas.openxmlformats.org/officeDocument/2006/relationships/slideLayout" Target="/ppt/slideLayouts/slideLayout13.xml" Id="R92e6bd4c0e524a2f" /><Relationship Type="http://schemas.openxmlformats.org/officeDocument/2006/relationships/slideLayout" Target="/ppt/slideLayouts/slideLayout14.xml" Id="Ra7ee1e32545a4cd9" /><Relationship Type="http://schemas.openxmlformats.org/officeDocument/2006/relationships/slideLayout" Target="/ppt/slideLayouts/slideLayout15.xml" Id="R462c98040ada4754" /><Relationship Type="http://schemas.openxmlformats.org/officeDocument/2006/relationships/slideLayout" Target="/ppt/slideLayouts/slideLayout16.xml" Id="Rb525fb7d37254e28" /><Relationship Type="http://schemas.openxmlformats.org/officeDocument/2006/relationships/slideLayout" Target="/ppt/slideLayouts/slideLayout17.xml" Id="R4e812c29fa9f4a6c" /><Relationship Type="http://schemas.openxmlformats.org/officeDocument/2006/relationships/slideLayout" Target="/ppt/slideLayouts/slideLayout18.xml" Id="R87bbcca0540b4a79" /><Relationship Type="http://schemas.openxmlformats.org/officeDocument/2006/relationships/slideLayout" Target="/ppt/slideLayouts/slideLayout19.xml" Id="R1757bcde9fa048d6" /><Relationship Type="http://schemas.openxmlformats.org/officeDocument/2006/relationships/slideLayout" Target="/ppt/slideLayouts/slideLayout20.xml" Id="R5a0be34240ba4589" /><Relationship Type="http://schemas.openxmlformats.org/officeDocument/2006/relationships/slideLayout" Target="/ppt/slideLayouts/slideLayout21.xml" Id="R7f887ededb4b49c0" /><Relationship Type="http://schemas.openxmlformats.org/officeDocument/2006/relationships/slideLayout" Target="/ppt/slideLayouts/slideLayout22.xml" Id="R9e03a85770604e02" /><Relationship Type="http://schemas.openxmlformats.org/officeDocument/2006/relationships/slideLayout" Target="/ppt/slideLayouts/slideLayout23.xml" Id="R2eb44f531eb84172" /><Relationship Type="http://schemas.openxmlformats.org/officeDocument/2006/relationships/slideLayout" Target="/ppt/slideLayouts/slideLayout24.xml" Id="R5df032cfbd5e4d41" /><Relationship Type="http://schemas.openxmlformats.org/officeDocument/2006/relationships/slideLayout" Target="/ppt/slideLayouts/slideLayout25.xml" Id="R8ed25b54c8a941b3" /><Relationship Type="http://schemas.openxmlformats.org/officeDocument/2006/relationships/slideLayout" Target="/ppt/slideLayouts/slideLayout26.xml" Id="R659b21b58d7f4980" /><Relationship Type="http://schemas.openxmlformats.org/officeDocument/2006/relationships/slideLayout" Target="/ppt/slideLayouts/slideLayout27.xml" Id="R21701504cf144fc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66487EE-D58E-4DCD-992E-99B5F6778C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19F3205-F26A-4403-A810-65BC09C034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4F32886-EED0-43EB-A8DA-31E569F52AD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2A8952B-D471-4C9C-8266-F7CC7C8257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F0DFD95-AF22-4884-9347-26C6126C9C2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e2e7bcdf464a91"/>
    <p:sldLayoutId xmlns:r="http://schemas.openxmlformats.org/officeDocument/2006/relationships" id="2147483650" r:id="Rb8d80fc22ee84049"/>
    <p:sldLayoutId xmlns:r="http://schemas.openxmlformats.org/officeDocument/2006/relationships" id="2147483651" r:id="Rbc607c34516b4622"/>
    <p:sldLayoutId xmlns:r="http://schemas.openxmlformats.org/officeDocument/2006/relationships" id="2147483652" r:id="Rf53f91ad5cbd444b"/>
    <p:sldLayoutId xmlns:r="http://schemas.openxmlformats.org/officeDocument/2006/relationships" id="2147483653" r:id="Re22e060ea4144f05"/>
    <p:sldLayoutId xmlns:r="http://schemas.openxmlformats.org/officeDocument/2006/relationships" id="2147483654" r:id="R94d249640aab4e48"/>
    <p:sldLayoutId xmlns:r="http://schemas.openxmlformats.org/officeDocument/2006/relationships" id="2147483655" r:id="Rc95634f0b3ed44e4"/>
    <p:sldLayoutId xmlns:r="http://schemas.openxmlformats.org/officeDocument/2006/relationships" id="2147483656" r:id="R3675441f4ca34837"/>
    <p:sldLayoutId xmlns:r="http://schemas.openxmlformats.org/officeDocument/2006/relationships" id="2147483657" r:id="R03f73f74597d4d0d"/>
    <p:sldLayoutId xmlns:r="http://schemas.openxmlformats.org/officeDocument/2006/relationships" id="2147483658" r:id="Rc6c374ff59eb46f1"/>
    <p:sldLayoutId xmlns:r="http://schemas.openxmlformats.org/officeDocument/2006/relationships" id="2147483659" r:id="R131432446bf2442f"/>
    <p:sldLayoutId xmlns:r="http://schemas.openxmlformats.org/officeDocument/2006/relationships" id="2147483660" r:id="Ra609bf302d394bf4"/>
    <p:sldLayoutId xmlns:r="http://schemas.openxmlformats.org/officeDocument/2006/relationships" id="2147483661" r:id="R92e6bd4c0e524a2f"/>
    <p:sldLayoutId xmlns:r="http://schemas.openxmlformats.org/officeDocument/2006/relationships" id="2147483662" r:id="Ra7ee1e32545a4cd9"/>
    <p:sldLayoutId xmlns:r="http://schemas.openxmlformats.org/officeDocument/2006/relationships" id="2147483663" r:id="R462c98040ada4754"/>
    <p:sldLayoutId xmlns:r="http://schemas.openxmlformats.org/officeDocument/2006/relationships" id="2147483664" r:id="Rb525fb7d37254e28"/>
    <p:sldLayoutId xmlns:r="http://schemas.openxmlformats.org/officeDocument/2006/relationships" id="2147483665" r:id="R4e812c29fa9f4a6c"/>
    <p:sldLayoutId xmlns:r="http://schemas.openxmlformats.org/officeDocument/2006/relationships" id="2147483666" r:id="R87bbcca0540b4a79"/>
    <p:sldLayoutId xmlns:r="http://schemas.openxmlformats.org/officeDocument/2006/relationships" id="2147483667" r:id="R1757bcde9fa048d6"/>
    <p:sldLayoutId xmlns:r="http://schemas.openxmlformats.org/officeDocument/2006/relationships" id="2147483668" r:id="R5a0be34240ba4589"/>
    <p:sldLayoutId xmlns:r="http://schemas.openxmlformats.org/officeDocument/2006/relationships" id="2147483669" r:id="R7f887ededb4b49c0"/>
    <p:sldLayoutId xmlns:r="http://schemas.openxmlformats.org/officeDocument/2006/relationships" id="2147483670" r:id="R9e03a85770604e02"/>
    <p:sldLayoutId xmlns:r="http://schemas.openxmlformats.org/officeDocument/2006/relationships" id="2147483671" r:id="R2eb44f531eb84172"/>
    <p:sldLayoutId xmlns:r="http://schemas.openxmlformats.org/officeDocument/2006/relationships" id="2147483672" r:id="R5df032cfbd5e4d41"/>
    <p:sldLayoutId xmlns:r="http://schemas.openxmlformats.org/officeDocument/2006/relationships" id="2147483673" r:id="R8ed25b54c8a941b3"/>
    <p:sldLayoutId xmlns:r="http://schemas.openxmlformats.org/officeDocument/2006/relationships" id="2147483674" r:id="R659b21b58d7f4980"/>
    <p:sldLayoutId xmlns:r="http://schemas.openxmlformats.org/officeDocument/2006/relationships" id="2147483675" r:id="R21701504cf144fcc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8d8888d694ae8" /><Relationship Type="http://schemas.openxmlformats.org/officeDocument/2006/relationships/notesSlide" Target="/ppt/notesSlides/notesSlide1.xml" Id="R964f88f3ef9a43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0c5ac0aacf4f98" /><Relationship Type="http://schemas.openxmlformats.org/officeDocument/2006/relationships/notesSlide" Target="/ppt/notesSlides/notesSlide2.xml" Id="R69ed00eb7d0644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387c8922f64631" /><Relationship Type="http://schemas.openxmlformats.org/officeDocument/2006/relationships/notesSlide" Target="/ppt/notesSlides/notesSlide3.xml" Id="R9959ef589a474b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fbadd11efad4860" /><Relationship Type="http://schemas.openxmlformats.org/officeDocument/2006/relationships/notesSlide" Target="/ppt/notesSlides/notesSlide4.xml" Id="Rda138b2814ef4c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7ef4b0530f244f4" /><Relationship Type="http://schemas.openxmlformats.org/officeDocument/2006/relationships/image" Target="/ppt/media/image2.png" Id="Rcef3f255bed34e6d" /><Relationship Type="http://schemas.openxmlformats.org/officeDocument/2006/relationships/notesSlide" Target="/ppt/notesSlides/notesSlide5.xml" Id="R55df3f35837348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e356c4640744174" /><Relationship Type="http://schemas.openxmlformats.org/officeDocument/2006/relationships/image" Target="/ppt/media/image3.png" Id="R9001b919274641ac" /><Relationship Type="http://schemas.openxmlformats.org/officeDocument/2006/relationships/notesSlide" Target="/ppt/notesSlides/notesSlide6.xml" Id="Rf0170c04b57740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3e83fa7324997" /><Relationship Type="http://schemas.openxmlformats.org/officeDocument/2006/relationships/notesSlide" Target="/ppt/notesSlides/notesSlide7.xml" Id="R7341204611cd48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f6e27bf53c4195" /><Relationship Type="http://schemas.openxmlformats.org/officeDocument/2006/relationships/notesSlide" Target="/ppt/notesSlides/notesSlide8.xml" Id="R220664d32e4b4c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660072c732f24a57" /><Relationship Type="http://schemas.openxmlformats.org/officeDocument/2006/relationships/notesSlide" Target="/ppt/notesSlides/notesSlide9.xml" Id="R882e2048f5bd49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3d8676c33134ddf" /><Relationship Type="http://schemas.openxmlformats.org/officeDocument/2006/relationships/image" Target="/ppt/media/image4.png" Id="R091f4dfb469f4f8f" /><Relationship Type="http://schemas.openxmlformats.org/officeDocument/2006/relationships/notesSlide" Target="/ppt/notesSlides/notesSlide10.xml" Id="R810513ab649546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1cd43dbd70cf4ae7" /><Relationship Type="http://schemas.openxmlformats.org/officeDocument/2006/relationships/notesSlide" Target="/ppt/notesSlides/notesSlide11.xml" Id="Rf6c59e0413ed46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ccfe8853f964cfc" /><Relationship Type="http://schemas.openxmlformats.org/officeDocument/2006/relationships/image" Target="/ppt/media/image5.png" Id="R5f4d28a5db2d48fc" /><Relationship Type="http://schemas.openxmlformats.org/officeDocument/2006/relationships/image" Target="/ppt/media/image6.png" Id="R94554d8971884b8a" /><Relationship Type="http://schemas.openxmlformats.org/officeDocument/2006/relationships/notesSlide" Target="/ppt/notesSlides/notesSlide12.xml" Id="Rf933627dbdb54a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b52a8a3a79c4ba8" /><Relationship Type="http://schemas.openxmlformats.org/officeDocument/2006/relationships/notesSlide" Target="/ppt/notesSlides/notesSlide13.xml" Id="Rdd80d64119e34d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ae0e91c923e44da0" /><Relationship Type="http://schemas.openxmlformats.org/officeDocument/2006/relationships/image" Target="/ppt/media/image7.png" Id="R0de4e6eb585146f4" /><Relationship Type="http://schemas.openxmlformats.org/officeDocument/2006/relationships/notesSlide" Target="/ppt/notesSlides/notesSlide14.xml" Id="Rc8decea8701a43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b8eb2d8019e4dfb" /><Relationship Type="http://schemas.openxmlformats.org/officeDocument/2006/relationships/image" Target="/ppt/media/image8.png" Id="Re945fb45e9234889" /><Relationship Type="http://schemas.openxmlformats.org/officeDocument/2006/relationships/notesSlide" Target="/ppt/notesSlides/notesSlide15.xml" Id="Rf59f92a66e0940a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5b65b7bd09494a95" /><Relationship Type="http://schemas.openxmlformats.org/officeDocument/2006/relationships/image" Target="/ppt/media/image9.png" Id="R5cb8bb32e0a54e2f" /><Relationship Type="http://schemas.openxmlformats.org/officeDocument/2006/relationships/notesSlide" Target="/ppt/notesSlides/notesSlide16.xml" Id="R762fd68e822442d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83c3d0b163914df8" /><Relationship Type="http://schemas.openxmlformats.org/officeDocument/2006/relationships/notesSlide" Target="/ppt/notesSlides/notesSlide17.xml" Id="R7c0e7b26363240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6ad1720086e4ebf" /><Relationship Type="http://schemas.openxmlformats.org/officeDocument/2006/relationships/notesSlide" Target="/ppt/notesSlides/notesSlide18.xml" Id="R7f94994ec1fc4e8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feb3c0eaf3464ddd" /><Relationship Type="http://schemas.openxmlformats.org/officeDocument/2006/relationships/notesSlide" Target="/ppt/notesSlides/notesSlide19.xml" Id="R251b6d290dfc42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bae1b9b3878f4ab5" /><Relationship Type="http://schemas.openxmlformats.org/officeDocument/2006/relationships/notesSlide" Target="/ppt/notesSlides/notesSlide20.xml" Id="Rfb0736543d8c444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7cb3e81a47524fd8" /><Relationship Type="http://schemas.openxmlformats.org/officeDocument/2006/relationships/notesSlide" Target="/ppt/notesSlides/notesSlide21.xml" Id="Ra3deee41a84048f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06069e711fc4be1" /><Relationship Type="http://schemas.openxmlformats.org/officeDocument/2006/relationships/image" Target="/ppt/media/image.svg" Id="Rf71235c970334738" /><Relationship Type="http://schemas.openxmlformats.org/officeDocument/2006/relationships/image" Target="/ppt/media/image.jpeg" Id="Rab49d6b90d754202" /><Relationship Type="http://schemas.openxmlformats.org/officeDocument/2006/relationships/notesSlide" Target="/ppt/notesSlides/notesSlide22.xml" Id="Rcbe6e6370f4d459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4ab771327394183" /><Relationship Type="http://schemas.openxmlformats.org/officeDocument/2006/relationships/notesSlide" Target="/ppt/notesSlides/notesSlide23.xml" Id="Re5e0b5f4e8f34d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标题 43">
            <a:extLst xmlns:a="http://schemas.openxmlformats.org/drawingml/2006/main">
              <a:ext uri="{FF2B5EF4-FFF2-40B4-BE49-F238E27FC236}">
                <a16:creationId xmlns:a16="http://schemas.microsoft.com/office/drawing/2014/main" id="{84525057-6511-45EC-B52A-CA4149D1C32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200"/>
              <a:t>TriSched-RL：基于图增强深度强化学习的云—边—端异构计算资源管理与调度框架</a:t>
            </a:r>
          </a:p>
        </p:txBody>
      </p:sp>
      <p:sp>
        <p:nvSpPr>
          <p:cNvPr id="46" name="文本占位符 45">
            <a:extLst xmlns:a="http://schemas.openxmlformats.org/drawingml/2006/main">
              <a:ext uri="{FF2B5EF4-FFF2-40B4-BE49-F238E27FC236}">
                <a16:creationId xmlns:a16="http://schemas.microsoft.com/office/drawing/2014/main" id="{E0B06BB7-1242-421A-BE3B-4667B06D099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99050" y="4639945"/>
            <a:ext cx="3971290" cy="2901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云边智链</a:t>
            </a:r>
          </a:p>
        </p:txBody>
      </p:sp>
      <p:sp>
        <p:nvSpPr>
          <p:cNvPr id="49" name="文本占位符 48">
            <a:extLst xmlns:a="http://schemas.openxmlformats.org/drawingml/2006/main">
              <a:ext uri="{FF2B5EF4-FFF2-40B4-BE49-F238E27FC236}">
                <a16:creationId xmlns:a16="http://schemas.microsoft.com/office/drawing/2014/main" id="{22231023-15D9-4E68-8BE1-DE735ADB3411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099050" y="5077460"/>
            <a:ext cx="3997960" cy="2901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 年 7 月28日</a:t>
            </a:r>
          </a:p>
        </p:txBody>
      </p:sp>
      <p:sp>
        <p:nvSpPr>
          <p:cNvPr id="51" name="文本占位符 50">
            <a:extLst xmlns:a="http://schemas.openxmlformats.org/drawingml/2006/main">
              <a:ext uri="{FF2B5EF4-FFF2-40B4-BE49-F238E27FC236}">
                <a16:creationId xmlns:a16="http://schemas.microsoft.com/office/drawing/2014/main" id="{316DD151-0C17-4AFE-9A4A-C5A2C823E5F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3937218" y="4640664"/>
            <a:ext cx="1235673" cy="29036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参赛团队：</a:t>
            </a:r>
          </a:p>
        </p:txBody>
      </p:sp>
      <p:sp>
        <p:nvSpPr>
          <p:cNvPr id="54" name="文本占位符 53">
            <a:extLst xmlns:a="http://schemas.openxmlformats.org/drawingml/2006/main">
              <a:ext uri="{FF2B5EF4-FFF2-40B4-BE49-F238E27FC236}">
                <a16:creationId xmlns:a16="http://schemas.microsoft.com/office/drawing/2014/main" id="{3D6C70F9-57DF-45DB-A40A-13A7E842E361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937218" y="5077480"/>
            <a:ext cx="1235673" cy="2903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完成日期：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D3921E5-6AC1-483B-B371-A884F2E0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030" y="584835"/>
            <a:ext cx="40640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1988846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058B74F3-3559-48B5-B957-BD2B3409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1496695"/>
            <a:ext cx="5114925" cy="7410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任意形状 10">
            <a:extLst xmlns:a="http://schemas.openxmlformats.org/drawingml/2006/main">
              <a:ext uri="{FF2B5EF4-FFF2-40B4-BE49-F238E27FC236}">
                <a16:creationId xmlns:a16="http://schemas.microsoft.com/office/drawing/2014/main" id="{47AED8B1-F886-4591-A61D-E36C1BAE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0060" y="1378585"/>
            <a:ext cx="784860" cy="933450"/>
          </a:xfrm>
          <a:custGeom xmlns:a="http://schemas.openxmlformats.org/drawingml/2006/main"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 xmlns:a="http://schemas.openxmlformats.org/drawingml/2006/main">
            <a:srgbClr val="254F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1DD2D995-07B2-4586-8597-D57F4E22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65" y="1591310"/>
            <a:ext cx="79692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01</a:t>
            </a:r>
          </a:p>
        </p:txBody>
      </p:sp>
      <p:sp>
        <p:nvSpPr>
          <p:cNvPr id="115" name="圆角矩形 114">
            <a:extLst xmlns:a="http://schemas.openxmlformats.org/drawingml/2006/main">
              <a:ext uri="{FF2B5EF4-FFF2-40B4-BE49-F238E27FC236}">
                <a16:creationId xmlns:a16="http://schemas.microsoft.com/office/drawing/2014/main" id="{9B8F1E20-417E-48BE-B254-BCD35B6C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2439670"/>
            <a:ext cx="5114925" cy="7410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6" name="任意形状 10">
            <a:extLst xmlns:a="http://schemas.openxmlformats.org/drawingml/2006/main">
              <a:ext uri="{FF2B5EF4-FFF2-40B4-BE49-F238E27FC236}">
                <a16:creationId xmlns:a16="http://schemas.microsoft.com/office/drawing/2014/main" id="{E3D410C9-8439-45CD-BFB2-0E15F371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0060" y="2321560"/>
            <a:ext cx="784860" cy="933450"/>
          </a:xfrm>
          <a:custGeom xmlns:a="http://schemas.openxmlformats.org/drawingml/2006/main"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 xmlns:a="http://schemas.openxmlformats.org/drawingml/2006/main">
            <a:srgbClr val="254F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7" name="文本框 116">
            <a:extLst xmlns:a="http://schemas.openxmlformats.org/drawingml/2006/main">
              <a:ext uri="{FF2B5EF4-FFF2-40B4-BE49-F238E27FC236}">
                <a16:creationId xmlns:a16="http://schemas.microsoft.com/office/drawing/2014/main" id="{39B700E2-884E-4DD3-9A40-FB0763DC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65" y="2534285"/>
            <a:ext cx="79692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02</a:t>
            </a:r>
          </a:p>
        </p:txBody>
      </p:sp>
      <p:sp>
        <p:nvSpPr>
          <p:cNvPr id="120" name="圆角矩形 119">
            <a:extLst xmlns:a="http://schemas.openxmlformats.org/drawingml/2006/main">
              <a:ext uri="{FF2B5EF4-FFF2-40B4-BE49-F238E27FC236}">
                <a16:creationId xmlns:a16="http://schemas.microsoft.com/office/drawing/2014/main" id="{EE7FCEAB-15E4-414D-AF2C-33BCFA57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3382645"/>
            <a:ext cx="5114925" cy="7410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1" name="任意形状 10">
            <a:extLst xmlns:a="http://schemas.openxmlformats.org/drawingml/2006/main">
              <a:ext uri="{FF2B5EF4-FFF2-40B4-BE49-F238E27FC236}">
                <a16:creationId xmlns:a16="http://schemas.microsoft.com/office/drawing/2014/main" id="{B4C2CC74-2EA1-4BE4-8F31-6F13AEFE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0060" y="3264535"/>
            <a:ext cx="784860" cy="933450"/>
          </a:xfrm>
          <a:custGeom xmlns:a="http://schemas.openxmlformats.org/drawingml/2006/main"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 xmlns:a="http://schemas.openxmlformats.org/drawingml/2006/main">
            <a:srgbClr val="254F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2" name="文本框 121">
            <a:extLst xmlns:a="http://schemas.openxmlformats.org/drawingml/2006/main">
              <a:ext uri="{FF2B5EF4-FFF2-40B4-BE49-F238E27FC236}">
                <a16:creationId xmlns:a16="http://schemas.microsoft.com/office/drawing/2014/main" id="{2DC26E4F-8D2A-4739-82EB-48D15976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65" y="3477260"/>
            <a:ext cx="79692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03</a:t>
            </a:r>
          </a:p>
        </p:txBody>
      </p:sp>
      <p:sp>
        <p:nvSpPr>
          <p:cNvPr id="125" name="圆角矩形 124">
            <a:extLst xmlns:a="http://schemas.openxmlformats.org/drawingml/2006/main">
              <a:ext uri="{FF2B5EF4-FFF2-40B4-BE49-F238E27FC236}">
                <a16:creationId xmlns:a16="http://schemas.microsoft.com/office/drawing/2014/main" id="{3F34EE1D-C60E-4426-BCBE-9A1BBBBE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4325620"/>
            <a:ext cx="5114925" cy="7410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6" name="任意形状 10">
            <a:extLst xmlns:a="http://schemas.openxmlformats.org/drawingml/2006/main">
              <a:ext uri="{FF2B5EF4-FFF2-40B4-BE49-F238E27FC236}">
                <a16:creationId xmlns:a16="http://schemas.microsoft.com/office/drawing/2014/main" id="{F531CBDA-824B-4AB8-89A3-85623868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0060" y="4207510"/>
            <a:ext cx="784860" cy="933450"/>
          </a:xfrm>
          <a:custGeom xmlns:a="http://schemas.openxmlformats.org/drawingml/2006/main"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 xmlns:a="http://schemas.openxmlformats.org/drawingml/2006/main">
            <a:srgbClr val="254F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7" name="文本框 126">
            <a:extLst xmlns:a="http://schemas.openxmlformats.org/drawingml/2006/main">
              <a:ext uri="{FF2B5EF4-FFF2-40B4-BE49-F238E27FC236}">
                <a16:creationId xmlns:a16="http://schemas.microsoft.com/office/drawing/2014/main" id="{B1CF7D27-6EE6-4DBB-8B3B-D26F3F35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65" y="4420235"/>
            <a:ext cx="79692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04</a:t>
            </a:r>
          </a:p>
        </p:txBody>
      </p:sp>
      <p:sp>
        <p:nvSpPr>
          <p:cNvPr id="130" name="圆角矩形 129">
            <a:extLst xmlns:a="http://schemas.openxmlformats.org/drawingml/2006/main">
              <a:ext uri="{FF2B5EF4-FFF2-40B4-BE49-F238E27FC236}">
                <a16:creationId xmlns:a16="http://schemas.microsoft.com/office/drawing/2014/main" id="{8B65B972-E7B1-4406-9323-AD99F99C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5268595"/>
            <a:ext cx="5114925" cy="74104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20000"/>
              <a:lumOff val="80000"/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1" name="任意形状 10">
            <a:extLst xmlns:a="http://schemas.openxmlformats.org/drawingml/2006/main">
              <a:ext uri="{FF2B5EF4-FFF2-40B4-BE49-F238E27FC236}">
                <a16:creationId xmlns:a16="http://schemas.microsoft.com/office/drawing/2014/main" id="{1595BBF6-DC35-425A-984E-773F1149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0060" y="5150485"/>
            <a:ext cx="784860" cy="933450"/>
          </a:xfrm>
          <a:custGeom xmlns:a="http://schemas.openxmlformats.org/drawingml/2006/main">
            <a:rect l="l" t="t" r="r" b="b"/>
            <a:pathLst>
              <a:path w="1021517" h="1219200">
                <a:moveTo>
                  <a:pt x="0" y="1048944"/>
                </a:moveTo>
                <a:lnTo>
                  <a:pt x="0" y="343438"/>
                </a:lnTo>
                <a:cubicBezTo>
                  <a:pt x="0" y="249408"/>
                  <a:pt x="76226" y="173182"/>
                  <a:pt x="170256" y="173182"/>
                </a:cubicBezTo>
                <a:lnTo>
                  <a:pt x="412580" y="173182"/>
                </a:lnTo>
                <a:lnTo>
                  <a:pt x="513025" y="0"/>
                </a:lnTo>
                <a:lnTo>
                  <a:pt x="613470" y="173182"/>
                </a:lnTo>
                <a:lnTo>
                  <a:pt x="851261" y="173182"/>
                </a:lnTo>
                <a:cubicBezTo>
                  <a:pt x="945291" y="173182"/>
                  <a:pt x="1021517" y="249408"/>
                  <a:pt x="1021517" y="343438"/>
                </a:cubicBezTo>
                <a:lnTo>
                  <a:pt x="1021517" y="1048944"/>
                </a:lnTo>
                <a:cubicBezTo>
                  <a:pt x="1021517" y="1142974"/>
                  <a:pt x="945291" y="1219200"/>
                  <a:pt x="851261" y="1219200"/>
                </a:cubicBezTo>
                <a:lnTo>
                  <a:pt x="170256" y="1219200"/>
                </a:lnTo>
                <a:cubicBezTo>
                  <a:pt x="76226" y="1219200"/>
                  <a:pt x="0" y="1142974"/>
                  <a:pt x="0" y="1048944"/>
                </a:cubicBezTo>
                <a:close/>
              </a:path>
            </a:pathLst>
          </a:custGeom>
          <a:solidFill xmlns:a="http://schemas.openxmlformats.org/drawingml/2006/main">
            <a:srgbClr val="254F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7BA16A04-CEA0-4EBB-AA9A-9BD75D50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5765" y="5363210"/>
            <a:ext cx="79692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28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05</a:t>
            </a:r>
          </a:p>
        </p:txBody>
      </p:sp>
      <p:sp>
        <p:nvSpPr>
          <p:cNvPr id="33" name="标题 32">
            <a:extLst xmlns:a="http://schemas.openxmlformats.org/drawingml/2006/main">
              <a:ext uri="{FF2B5EF4-FFF2-40B4-BE49-F238E27FC236}">
                <a16:creationId xmlns:a16="http://schemas.microsoft.com/office/drawing/2014/main" id="{8A83BB9C-6055-4DF7-9E9D-AB7ED8E0C60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762750" y="1586865"/>
            <a:ext cx="3072130" cy="521970"/>
          </a:xfrm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模型总览</a:t>
            </a:r>
          </a:p>
        </p:txBody>
      </p:sp>
      <p:sp>
        <p:nvSpPr>
          <p:cNvPr id="2" name="标题 32">
            <a:extLst xmlns:a="http://schemas.openxmlformats.org/drawingml/2006/main">
              <a:ext uri="{FF2B5EF4-FFF2-40B4-BE49-F238E27FC236}">
                <a16:creationId xmlns:a16="http://schemas.microsoft.com/office/drawing/2014/main" id="{1A80B580-2EF0-4836-853D-F8CB745E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39365"/>
            <a:ext cx="3072130" cy="521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核心创新</a:t>
            </a:r>
          </a:p>
        </p:txBody>
      </p:sp>
      <p:sp>
        <p:nvSpPr>
          <p:cNvPr id="3" name="标题 32">
            <a:extLst xmlns:a="http://schemas.openxmlformats.org/drawingml/2006/main">
              <a:ext uri="{FF2B5EF4-FFF2-40B4-BE49-F238E27FC236}">
                <a16:creationId xmlns:a16="http://schemas.microsoft.com/office/drawing/2014/main" id="{D28F2A7A-5612-4302-90F3-D31566F5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6465"/>
            <a:ext cx="3072130" cy="521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实验结果</a:t>
            </a:r>
          </a:p>
        </p:txBody>
      </p:sp>
      <p:sp>
        <p:nvSpPr>
          <p:cNvPr id="4" name="标题 32">
            <a:extLst xmlns:a="http://schemas.openxmlformats.org/drawingml/2006/main">
              <a:ext uri="{FF2B5EF4-FFF2-40B4-BE49-F238E27FC236}">
                <a16:creationId xmlns:a16="http://schemas.microsoft.com/office/drawing/2014/main" id="{540B318B-D93A-433C-99AE-07718AF2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8965"/>
            <a:ext cx="3072130" cy="521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项目测试</a:t>
            </a:r>
          </a:p>
        </p:txBody>
      </p:sp>
      <p:sp>
        <p:nvSpPr>
          <p:cNvPr id="5" name="标题 32">
            <a:extLst xmlns:a="http://schemas.openxmlformats.org/drawingml/2006/main">
              <a:ext uri="{FF2B5EF4-FFF2-40B4-BE49-F238E27FC236}">
                <a16:creationId xmlns:a16="http://schemas.microsoft.com/office/drawing/2014/main" id="{C8F301B3-CAB4-4E2B-A0BC-D341AAEA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71465"/>
            <a:ext cx="3072130" cy="5219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800" b="1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作品演示</a:t>
            </a:r>
          </a:p>
        </p:txBody>
      </p:sp>
    </p:spTree>
    <p:extLst>
      <p:ext uri="{BB962C8B-B14F-4D97-AF65-F5344CB8AC3E}">
        <p14:creationId xmlns:p14="http://schemas.microsoft.com/office/powerpoint/2010/main" val="17323354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DB7939C7-3E1E-4300-B9A8-EAA781D5E47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模型总览</a:t>
            </a:r>
          </a:p>
        </p:txBody>
      </p:sp>
    </p:spTree>
    <p:extLst>
      <p:ext uri="{BB962C8B-B14F-4D97-AF65-F5344CB8AC3E}">
        <p14:creationId xmlns:p14="http://schemas.microsoft.com/office/powerpoint/2010/main" val="17715892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C8A79195-C5B1-40BB-BB70-A054E002EA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129"/>
            <a:ext cx="9198519" cy="4924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1.1 </a:t>
            </a:r>
            <a:r>
              <a:t>项目背景</a:t>
            </a:r>
            <a:r>
              <a:t>：</a:t>
            </a:r>
            <a:r>
              <a:t>面向云边端环境的异构计算资源管理调度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B25EB3-76E9-4856-9800-351A7250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782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云、边、端在算力、通信距离和资源容量上各有优势，也各有代价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6F3FFF3E-97EB-4A3E-8970-A034644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33718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CF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228600" tIns="228600" rIns="22860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5C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CFE8"/>
                </a:solidFill>
                <a:latin typeface="Microsoft YaHei"/>
                <a:ea typeface="Microsoft YaHei"/>
                <a:cs typeface="Microsoft YaHei"/>
              </a:rPr>
              <a:t>终端 Device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CC31E7C-D5BC-4E64-B737-A87E9DC7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800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贴近数据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通信开销低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但算力与电量有限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83F38935-6244-47E1-B5A2-B0EBB84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33718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C3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228600" tIns="228600" rIns="22860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rPr>
              <a:t>边缘 Edge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501C5E6-6720-4B47-B024-F16D1667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57500"/>
            <a:ext cx="2800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响应快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资源位置近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但容量容易拥塞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7E9BD165-E7EF-46B5-B8E4-367516E4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3718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4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228600" tIns="228600" rIns="22860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云端 Cloud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3B5276D-0B48-47EA-931A-52B18A50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28003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算力强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吞吐能力高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但远距离传输更贵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91848572-2C63-4660-B602-FCAEB3AD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782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9265F"/>
          </a:solidFill>
          <a:ln xmlns:a="http://schemas.openxmlformats.org/drawingml/2006/main" w="0">
            <a:solidFill>
              <a:srgbClr val="09265F"/>
            </a:solidFill>
            <a:prstDash val="solid"/>
          </a:ln>
        </p:spPr>
        <p:txBody>
          <a:bodyPr xmlns:a="http://schemas.openxmlformats.org/drawingml/2006/main" lIns="228600" tIns="171450" rIns="228600" bIns="0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DAG又引入前驱完成、跨节点通信与资源互斥约束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48B0A4F-DA1B-4AB8-A8A8-D8E4C2DE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10210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rPr>
              <a:t>TriSched学习每一步“就绪任务</a:t>
            </a:r>
            <a:r>
              <a:rPr sz="1350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rPr>
              <a:t> × </a:t>
            </a:r>
            <a:r>
              <a:rPr sz="1350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rPr>
              <a:t>计算节点”联合动作，以最小化整体Makespan</a:t>
            </a:r>
          </a:p>
        </p:txBody>
      </p:sp>
    </p:spTree>
    <p:extLst>
      <p:ext uri="{BB962C8B-B14F-4D97-AF65-F5344CB8AC3E}">
        <p14:creationId xmlns:p14="http://schemas.microsoft.com/office/powerpoint/2010/main" val="38771516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C8A79195-C5B1-40BB-BB70-A054E002EA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1.2 TriSched：约束环境、图策略与强化学习闭环</a:t>
            </a:r>
          </a:p>
        </p:txBody>
      </p:sp>
      <p:pic>
        <p:nvPicPr>
          <p:cNvPr id="10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3f255bed34e6d"/>
          <a:stretch xmlns:a="http://schemas.openxmlformats.org/drawingml/2006/main"/>
        </p:blipFill>
        <p:spPr>
          <a:xfrm xmlns:a="http://schemas.openxmlformats.org/drawingml/2006/main">
            <a:off x="1912862" y="1370630"/>
            <a:ext cx="8366275" cy="4116739"/>
          </a:xfrm>
          <a:prstGeom xmlns:a="http://schemas.openxmlformats.org/drawingml/2006/main" prst="rect">
            <a:avLst/>
          </a:prstGeom>
        </p:spPr>
      </p:pic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560B41CE-E809-4DC4-9A3D-BD1FC27A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29157"/>
            <a:ext cx="33718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4FEB"/>
            </a:solidFill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确定性环境｜依赖、通信、资源互斥与插入式排程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09F20E71-4889-43AF-8613-E867D376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729157"/>
            <a:ext cx="33718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39EE"/>
            </a:solidFill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图增强决策｜GNN提取DAG上下文，Actor选择合法候选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6784C586-BD81-4C34-A173-11B8ED20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29157"/>
            <a:ext cx="33718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F68"/>
            </a:solidFill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强化学习训练｜Critic、GAE与PPO依据环境奖励更新</a:t>
            </a:r>
          </a:p>
        </p:txBody>
      </p:sp>
    </p:spTree>
    <p:extLst>
      <p:ext uri="{BB962C8B-B14F-4D97-AF65-F5344CB8AC3E}">
        <p14:creationId xmlns:p14="http://schemas.microsoft.com/office/powerpoint/2010/main" val="9924120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F3283416-6576-4429-A860-A8C2318C1D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1.3 场景输入与调度环境先保证正确，再优化性能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0DD1D079-8BB5-4991-9E85-C4C1D50A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2403" y="1619250"/>
            <a:ext cx="3257550" cy="37909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9265F"/>
          </a:solidFill>
          <a:ln xmlns:a="http://schemas.openxmlformats.org/drawingml/2006/main" w="0">
            <a:solidFill>
              <a:srgbClr val="09265F"/>
            </a:solidFill>
            <a:prstDash val="solid"/>
          </a:ln>
        </p:spPr>
        <p:txBody>
          <a:bodyPr xmlns:a="http://schemas.openxmlformats.org/drawingml/2006/main" lIns="247650" tIns="209550" rIns="24765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环境承担四类确定性职责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CDE9686-E96E-4458-9DBB-3F871A6B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153" y="2286000"/>
            <a:ext cx="26860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01  校验DAG与资源参数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02  维护ready任务集合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03  计算前驱通信到达时刻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04  搜索资源最早可插入空隙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0863154-F2D6-42CB-9142-7E5DF39E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9103" y="4762500"/>
            <a:ext cx="2724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rPr>
              <a:t>输出满足依赖、通信与资源互斥约束</a:t>
            </a:r>
          </a:p>
        </p:txBody>
      </p:sp>
      <p:pic>
        <p:nvPicPr>
          <p:cNvPr id="1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1b9192746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048" y="1619250"/>
            <a:ext cx="8164606" cy="38901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6386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69BD7656-411D-4635-B568-34B310DB04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1.4 候选特征与 Actor：只给合法动作分配概率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DB8CA61A-621C-4C5F-889A-006754C7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3714750" cy="39433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9265F"/>
          </a:solidFill>
          <a:ln xmlns:a="http://schemas.openxmlformats.org/drawingml/2006/main" w="0">
            <a:solidFill>
              <a:srgbClr val="09265F"/>
            </a:solidFill>
            <a:prstDash val="solid"/>
          </a:ln>
        </p:spPr>
        <p:txBody>
          <a:bodyPr xmlns:a="http://schemas.openxmlformats.org/drawingml/2006/main" lIns="247650" tIns="209550" rIns="24765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14维 teacher-free 候选特征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1C1BD08-F6DB-4492-913E-6565BB4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31813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CE6FF"/>
                </a:solidFill>
                <a:latin typeface="Consolas"/>
                <a:ea typeface="Consolas"/>
                <a:cs typeface="Consolas"/>
              </a:rPr>
              <a:t>任务：workload · upward rank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C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CE6FF"/>
                </a:solidFill>
                <a:latin typeface="Consolas"/>
                <a:ea typeface="Consolas"/>
                <a:cs typeface="Consolas"/>
              </a:rPr>
              <a:t>资源：exec time · speed · available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C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CE6FF"/>
                </a:solidFill>
                <a:latin typeface="Consolas"/>
                <a:ea typeface="Consolas"/>
                <a:cs typeface="Consolas"/>
              </a:rPr>
              <a:t>时序：earliest start / finish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C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CE6FF"/>
                </a:solidFill>
                <a:latin typeface="Consolas"/>
                <a:ea typeface="Consolas"/>
                <a:cs typeface="Consolas"/>
              </a:rPr>
              <a:t>通信：communication delay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C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CE6FF"/>
                </a:solidFill>
                <a:latin typeface="Consolas"/>
                <a:ea typeface="Consolas"/>
                <a:cs typeface="Consolas"/>
              </a:rPr>
              <a:t>结构：in-degree · out-degree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C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CE6FF"/>
                </a:solidFill>
                <a:latin typeface="Consolas"/>
                <a:ea typeface="Consolas"/>
                <a:cs typeface="Consolas"/>
              </a:rPr>
              <a:t>进度：scheduled ratio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DC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CE6FF"/>
                </a:solidFill>
                <a:latin typeface="Consolas"/>
                <a:ea typeface="Consolas"/>
                <a:cs typeface="Consolas"/>
              </a:rPr>
              <a:t>类型：device / edge / cloud one-hot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D3F3BD5-663C-436D-BB55-083EB7F9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3219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rPr>
              <a:t>不读取HEFT任务或候选提示</a:t>
            </a:r>
          </a:p>
        </p:txBody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317AD049-E1F3-4A04-9DBB-08890F1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1945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78C7A733-77B0-4616-9A96-9789F20F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1828800" cy="20002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4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52400" tIns="228600" rIns="15240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Ready × Resources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0556C96-37C4-4A23-86FA-E3F1E62C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Env动态生成</a:t>
            </a:r>
          </a:p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合法</a:t>
            </a: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(task, resource)</a:t>
            </a: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候选</a:t>
            </a:r>
          </a:p>
        </p:txBody>
      </p:sp>
      <p:sp>
        <p:nvSpPr>
          <p:cNvPr id="10" name="箭头: 右 9">
            <a:extLst xmlns:a="http://schemas.openxmlformats.org/drawingml/2006/main">
              <a:ext uri="{FF2B5EF4-FFF2-40B4-BE49-F238E27FC236}">
                <a16:creationId xmlns:a16="http://schemas.microsoft.com/office/drawing/2014/main" id="{EFCBC93E-BCB0-4D1F-93C6-CDB849F6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19450"/>
            <a:ext cx="381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EAB8ED20-3431-42AF-94D5-6133228B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1828800" cy="20002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3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52400" tIns="228600" rIns="15240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rPr>
              <a:t>Actor logits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59B84CA-6220-40A2-AB20-031B6CB7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逐候选打分</a:t>
            </a:r>
          </a:p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masked softmax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C31334FE-0006-4860-B270-ABFF5A13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0"/>
            <a:ext cx="1828800" cy="20002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F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52400" tIns="228600" rIns="15240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8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8F68"/>
                </a:solidFill>
                <a:latin typeface="Microsoft YaHei"/>
                <a:ea typeface="Microsoft YaHei"/>
                <a:cs typeface="Microsoft YaHei"/>
              </a:rPr>
              <a:t>执行动作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F727F8F-259E-4DDA-BF5C-3639B527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19450"/>
            <a:ext cx="144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训练按概率采样</a:t>
            </a:r>
          </a:p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评估使用argmax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FFB6FCB0-D07B-49C7-82C5-5E78B915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66294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8EA6FF"/>
            </a:solidFill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候选数量随ready集合变化，Actor无需固定动作维度</a:t>
            </a:r>
          </a:p>
        </p:txBody>
      </p:sp>
    </p:spTree>
    <p:extLst>
      <p:ext uri="{BB962C8B-B14F-4D97-AF65-F5344CB8AC3E}">
        <p14:creationId xmlns:p14="http://schemas.microsoft.com/office/powerpoint/2010/main" val="8622059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8AA905DB-CFF2-48B4-88D7-9D7C742A7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1.5 GNN策略与 Actor-Critic 训练共同优化调度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5CEC7A29-E1C7-450C-A575-FAAFB003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521970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3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247650" tIns="209550" rIns="24765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rPr>
              <a:t>TriSched-GNN-PPO 策略模型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8AD65C5-561B-4A7C-9152-BB6B353C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667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4维节点特征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→ 前驱 / 后继双向均值聚合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→ 8维任务图上下文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14维候选特征与8维图上下文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分别投影到32维后相加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→ Pair score → masked softmax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D96BF8D-66AC-4301-A8BC-D06D656F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rPr>
              <a:t>图信息直接参与每个候选动作概率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05F0060-9AB9-4735-B4CE-82B9F2A4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23875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09265F"/>
          </a:solidFill>
          <a:ln xmlns:a="http://schemas.openxmlformats.org/drawingml/2006/main" w="0">
            <a:solidFill>
              <a:srgbClr val="09265F"/>
            </a:solidFill>
            <a:prstDash val="solid"/>
          </a:ln>
        </p:spPr>
        <p:txBody>
          <a:bodyPr xmlns:a="http://schemas.openxmlformats.org/drawingml/2006/main" lIns="266700" tIns="209550" rIns="26670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Critic、GAE 与 PPO 训练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0521163-CE79-4FF1-B22E-6BA0A9C3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629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Actor 与 Env 交互采集轨迹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Critic 估计状态价值 V(s)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GAE 计算优势 Âₜ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PPO 裁剪目标更新策略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γ=1.0 · λ=0.95 · ε=0.2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6FF"/>
                </a:solidFill>
                <a:latin typeface="Microsoft YaHei"/>
                <a:ea typeface="Microsoft YaHei"/>
                <a:cs typeface="Microsoft YaHei"/>
              </a:rPr>
              <a:t>KL=0.03 · entropy=0.001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0FFDBF5-5A4D-4C1A-8FB8-DB4BDCDD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66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rPr>
              <a:t>梯度更新 Actor / GNN / Critic，环境约束不参与梯度</a:t>
            </a:r>
          </a:p>
        </p:txBody>
      </p:sp>
    </p:spTree>
    <p:extLst>
      <p:ext uri="{BB962C8B-B14F-4D97-AF65-F5344CB8AC3E}">
        <p14:creationId xmlns:p14="http://schemas.microsoft.com/office/powerpoint/2010/main" val="4502748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815B7A94-F858-4D25-9183-2E3AE441B54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核心创新</a:t>
            </a:r>
          </a:p>
        </p:txBody>
      </p:sp>
    </p:spTree>
    <p:extLst>
      <p:ext uri="{BB962C8B-B14F-4D97-AF65-F5344CB8AC3E}">
        <p14:creationId xmlns:p14="http://schemas.microsoft.com/office/powerpoint/2010/main" val="498632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C8A79195-C5B1-40BB-BB70-A054E002EA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600" b="1">
                <a:solidFill>
                  <a:srgbClr val="254FEB"/>
                </a:solidFill>
              </a:defRPr>
            </a:pPr>
            <a:r>
              <a:rPr sz="2600" b="1">
                <a:solidFill>
                  <a:srgbClr val="254FEB"/>
                </a:solidFill>
              </a:rPr>
              <a:t>2.1 两项核心结构创新＋一项强化学习训练机制亮点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B25EB3-76E9-4856-9800-351A7250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66850"/>
            <a:ext cx="10782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rPr>
              <a:t>前两项是核心结构创新，第三项是训练机制亮点；均形成“难点—机制—收益”闭环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6F3FFF3E-97EB-4A3E-8970-A034644D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33718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CF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228600" tIns="228600" rIns="22860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0C7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C7E5"/>
                </a:solidFill>
                <a:latin typeface="Microsoft YaHei"/>
                <a:ea typeface="Microsoft YaHei"/>
                <a:cs typeface="Microsoft YaHei"/>
              </a:rPr>
              <a:t>难点① DAG依赖与通信代价难联合表达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0C7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0C7E5"/>
                </a:solidFill>
                <a:latin typeface="Microsoft YaHei"/>
                <a:ea typeface="Microsoft YaHei"/>
                <a:cs typeface="Microsoft YaHei"/>
              </a:rPr>
              <a:t>→ 结构创新① 图增强Actor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CC31E7C-D5BC-4E64-B737-A87E9DC7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2990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rPr>
              <a:t>解决机制：前驱/后继双向聚合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rPr>
              <a:t>融合候选特征与图上下文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rPr>
              <a:t>直接收益：联合表达依赖与通信代价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83F38935-6244-47E1-B5A2-B0EBB84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33718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C3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228600" tIns="228600" rIns="22860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04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040FF"/>
                </a:solidFill>
                <a:latin typeface="Microsoft YaHei"/>
                <a:ea typeface="Microsoft YaHei"/>
                <a:cs typeface="Microsoft YaHei"/>
              </a:rPr>
              <a:t>难点② Ready变化与非法动作风险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704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040FF"/>
                </a:solidFill>
                <a:latin typeface="Microsoft YaHei"/>
                <a:ea typeface="Microsoft YaHei"/>
                <a:cs typeface="Microsoft YaHei"/>
              </a:rPr>
              <a:t>→ 结构创新② 约束安全动作空间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501C5E6-6720-4B47-B024-F16D1667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2990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rPr>
              <a:t>解决机制：Env枚举 Ready×资源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rPr>
              <a:t>Legal Mask + 最早可行插空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rPr>
              <a:t>直接收益：动作合法，结果可执行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7E9BD165-E7EF-46B5-B8E4-367516E4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3718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4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228600" tIns="228600" rIns="22860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难点③ 延迟反馈与PPO更新波动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→ 训练亮点：目标一致PPO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3B5276D-0B48-47EA-931A-52B18A50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90850"/>
            <a:ext cx="29908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rPr>
              <a:t>解决机制：HEFT-BC热启动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rPr>
              <a:t>增量Makespan奖励 + GAE + PPO裁剪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33A"/>
                </a:solidFill>
                <a:latin typeface="Microsoft YaHei"/>
                <a:ea typeface="Microsoft YaHei"/>
                <a:cs typeface="Microsoft YaHei"/>
              </a:rPr>
              <a:t>直接收益：目标对齐、更新更稳</a:t>
            </a:r>
          </a:p>
        </p:txBody>
      </p:sp>
      <p:pic>
        <p:nvPicPr>
          <p:cNvPr id="21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f4dfb469f4f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69319"/>
            <a:ext cx="12192000" cy="122146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516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4273153B-D520-48BC-9B6D-311E58F12F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2.2 核心结构创新一：图上下文与候选动作融合</a:t>
            </a:r>
          </a:p>
        </p:txBody>
      </p:sp>
      <p:sp>
        <p:nvSpPr>
          <p:cNvPr id="5" name="箭头: 右 4">
            <a:extLst xmlns:a="http://schemas.openxmlformats.org/drawingml/2006/main">
              <a:ext uri="{FF2B5EF4-FFF2-40B4-BE49-F238E27FC236}">
                <a16:creationId xmlns:a16="http://schemas.microsoft.com/office/drawing/2014/main" id="{EF2EB58F-0A9A-4731-8D5F-D5A9AAAE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194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64958FA8-4BCB-44E3-8BE6-020246B0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733550" cy="209550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4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33350" tIns="209550" rIns="1333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4维节点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22EC076-9D1E-4863-AB46-80D322D6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A3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01A35"/>
                </a:solidFill>
                <a:latin typeface="Consolas"/>
                <a:ea typeface="Consolas"/>
                <a:cs typeface="Consolas"/>
              </a:rPr>
              <a:t>workload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A3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01A35"/>
                </a:solidFill>
                <a:latin typeface="Consolas"/>
                <a:ea typeface="Consolas"/>
                <a:cs typeface="Consolas"/>
              </a:rPr>
              <a:t>rank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A3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01A35"/>
                </a:solidFill>
                <a:latin typeface="Consolas"/>
                <a:ea typeface="Consolas"/>
                <a:cs typeface="Consolas"/>
              </a:rPr>
              <a:t>in/out degree</a:t>
            </a:r>
          </a:p>
        </p:txBody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88F3E4D1-56B2-40AB-8F13-FC9E9A7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86D5348C-8C88-4AB8-91EF-9ADB197A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1733550" cy="209550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3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33350" tIns="209550" rIns="1333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rPr>
              <a:t>双向聚合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4E8A25B-3FDD-4472-A1CA-9380D389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0990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A3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01A35"/>
                </a:solidFill>
                <a:latin typeface="Consolas"/>
                <a:ea typeface="Consolas"/>
                <a:cs typeface="Consolas"/>
              </a:rPr>
              <a:t>mean(pred)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A3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01A35"/>
                </a:solidFill>
                <a:latin typeface="Consolas"/>
                <a:ea typeface="Consolas"/>
                <a:cs typeface="Consolas"/>
              </a:rPr>
              <a:t>mean(succ)</a:t>
            </a:r>
          </a:p>
        </p:txBody>
      </p:sp>
      <p:sp>
        <p:nvSpPr>
          <p:cNvPr id="11" name="箭头: 右 10">
            <a:extLst xmlns:a="http://schemas.openxmlformats.org/drawingml/2006/main">
              <a:ext uri="{FF2B5EF4-FFF2-40B4-BE49-F238E27FC236}">
                <a16:creationId xmlns:a16="http://schemas.microsoft.com/office/drawing/2014/main" id="{E68E2CC9-5660-40F9-8AF9-297A8FBA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9C4C5E38-71E4-4361-B519-9FEC912F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90750"/>
            <a:ext cx="1733550" cy="209550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CF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33350" tIns="209550" rIns="1333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CF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CFE8"/>
                </a:solidFill>
                <a:latin typeface="Microsoft YaHei"/>
                <a:ea typeface="Microsoft YaHei"/>
                <a:cs typeface="Microsoft YaHei"/>
              </a:rPr>
              <a:t>8维上下文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BF78B31-5085-4BE4-9DDD-D52ED9A8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A3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01A35"/>
                </a:solidFill>
                <a:latin typeface="Consolas"/>
                <a:ea typeface="Consolas"/>
                <a:cs typeface="Consolas"/>
              </a:rPr>
              <a:t>task embedding</a:t>
            </a:r>
          </a:p>
        </p:txBody>
      </p:sp>
      <p:sp>
        <p:nvSpPr>
          <p:cNvPr id="14" name="箭头: 右 13">
            <a:extLst xmlns:a="http://schemas.openxmlformats.org/drawingml/2006/main">
              <a:ext uri="{FF2B5EF4-FFF2-40B4-BE49-F238E27FC236}">
                <a16:creationId xmlns:a16="http://schemas.microsoft.com/office/drawing/2014/main" id="{BFCA338E-1B95-468A-B3CF-B93B0534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8D6744F3-3C93-4C7D-A70E-6274C7F7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90750"/>
            <a:ext cx="1733550" cy="209550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C3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33350" tIns="209550" rIns="1333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rPr>
              <a:t>32维融合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3839A3A-44C6-43A8-A126-F83022DF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0990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A3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01A35"/>
                </a:solidFill>
                <a:latin typeface="Consolas"/>
                <a:ea typeface="Consolas"/>
                <a:cs typeface="Consolas"/>
              </a:rPr>
              <a:t>Proj(14D候选)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A3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01A35"/>
                </a:solidFill>
                <a:latin typeface="Consolas"/>
                <a:ea typeface="Consolas"/>
                <a:cs typeface="Consolas"/>
              </a:rPr>
              <a:t>+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01A3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01A35"/>
                </a:solidFill>
                <a:latin typeface="Consolas"/>
                <a:ea typeface="Consolas"/>
                <a:cs typeface="Consolas"/>
              </a:rPr>
              <a:t>Proj(8D图)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041742F1-E9B2-4553-B90A-E2640C8A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733550" cy="209550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F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33350" tIns="209550" rIns="1333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8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8F68"/>
                </a:solidFill>
                <a:latin typeface="Microsoft YaHei"/>
                <a:ea typeface="Microsoft YaHei"/>
                <a:cs typeface="Microsoft YaHei"/>
              </a:rPr>
              <a:t>Pair score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9728D23-1BEB-474D-92E4-1A1BC874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0990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01A3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01A35"/>
                </a:solidFill>
                <a:latin typeface="Consolas"/>
                <a:ea typeface="Consolas"/>
                <a:cs typeface="Consolas"/>
              </a:rPr>
              <a:t>masked softmax</a:t>
            </a:r>
          </a:p>
        </p:txBody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DF37BBF3-6C5C-4CB1-B475-FB493FBA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7632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8EA6FF"/>
            </a:solidFill>
            <a:prstDash val="solid"/>
          </a:ln>
        </p:spPr>
        <p:txBody>
          <a:bodyPr xmlns:a="http://schemas.openxmlformats.org/drawingml/2006/main" lIns="152400" tIns="95250" rIns="152400" bIns="9525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同一任务在不同资源候选上共享图上下文；候选数变化不改变节点表示含义</a:t>
            </a:r>
          </a:p>
        </p:txBody>
      </p:sp>
    </p:spTree>
    <p:extLst>
      <p:ext uri="{BB962C8B-B14F-4D97-AF65-F5344CB8AC3E}">
        <p14:creationId xmlns:p14="http://schemas.microsoft.com/office/powerpoint/2010/main" val="87073723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F6004E98-94DF-472B-80A6-C43709F16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2.3 结构创新二＋训练亮点：约束安全与目标对齐</a:t>
            </a:r>
          </a:p>
        </p:txBody>
      </p:sp>
      <p:pic>
        <p:nvPicPr>
          <p:cNvPr id="1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d28a5db2d48fc"/>
          <a:stretch xmlns:a="http://schemas.openxmlformats.org/drawingml/2006/main"/>
        </p:blipFill>
        <p:spPr>
          <a:xfrm xmlns:a="http://schemas.openxmlformats.org/drawingml/2006/main">
            <a:off x="471768" y="1668196"/>
            <a:ext cx="7741037" cy="3883452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6A15CC2-857A-4EF1-93BF-1A44E77D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932" y="3609922"/>
            <a:ext cx="34099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228600" tIns="171450" rIns="22860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rPr>
              <a:t>稳定训练与工程恢复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D8F0555-86FC-45B2-8693-63D2147D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582" y="4200472"/>
            <a:ext cx="29146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HEFT行为克隆热启动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GAE + clipped PPO + target KL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多随机种子敏感性分析</a:t>
            </a: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 · checkpoint · resume</a:t>
            </a:r>
          </a:p>
        </p:txBody>
      </p:sp>
      <p:pic>
        <p:nvPicPr>
          <p:cNvPr id="16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54d8971884b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57931" y="1571678"/>
            <a:ext cx="3380133" cy="17366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78108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FDE215E6-8B9D-4799-BE92-21D3DC4B05E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实验结果</a:t>
            </a:r>
          </a:p>
        </p:txBody>
      </p:sp>
    </p:spTree>
    <p:extLst>
      <p:ext uri="{BB962C8B-B14F-4D97-AF65-F5344CB8AC3E}">
        <p14:creationId xmlns:p14="http://schemas.microsoft.com/office/powerpoint/2010/main" val="96804132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7F068221-FB5D-49DA-8CC0-07A531785A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3.1</a:t>
            </a:r>
            <a:r>
              <a:t>：多随机初始化验证checkpoint选择</a:t>
            </a:r>
          </a:p>
        </p:txBody>
      </p:sp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4e6eb585146f4"/>
          <a:stretch xmlns:a="http://schemas.openxmlformats.org/drawingml/2006/main"/>
        </p:blipFill>
        <p:spPr>
          <a:xfrm xmlns:a="http://schemas.openxmlformats.org/drawingml/2006/main">
            <a:off x="954069" y="1504950"/>
            <a:ext cx="10169561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32C6EC1D-6E02-434F-B41A-D5144BE8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782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8EA6FF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结论｜不同初始化存在波动，应按冻结validation最优checkpoint选模，而非默认使用最后一轮。</a:t>
            </a:r>
          </a:p>
        </p:txBody>
      </p:sp>
    </p:spTree>
    <p:extLst>
      <p:ext uri="{BB962C8B-B14F-4D97-AF65-F5344CB8AC3E}">
        <p14:creationId xmlns:p14="http://schemas.microsoft.com/office/powerpoint/2010/main" val="37876989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A5316650-7CA4-4B9C-BA97-EC0C0F0290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3.2</a:t>
            </a:r>
            <a:r>
              <a:t>：GNN图编码点估计改善4.53%</a:t>
            </a:r>
          </a:p>
        </p:txBody>
      </p:sp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5fb45e9234889"/>
          <a:stretch xmlns:a="http://schemas.openxmlformats.org/drawingml/2006/main"/>
        </p:blipFill>
        <p:spPr>
          <a:xfrm xmlns:a="http://schemas.openxmlformats.org/drawingml/2006/main">
            <a:off x="647700" y="1537457"/>
            <a:ext cx="10782300" cy="3554486"/>
          </a:xfrm>
          <a:prstGeom xmlns:a="http://schemas.openxmlformats.org/drawingml/2006/main" prst="rect">
            <a:avLst/>
          </a:prstGeom>
        </p:spPr>
      </p:pic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6A041E50-BFB3-4F20-8EE3-D792E8EC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782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8EA6FF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结论｜相同PPO设置下，GNN-PPO mean_ratio为0.690，较MLP-PPO的0.723下降4.53%。</a:t>
            </a:r>
          </a:p>
        </p:txBody>
      </p:sp>
    </p:spTree>
    <p:extLst>
      <p:ext uri="{BB962C8B-B14F-4D97-AF65-F5344CB8AC3E}">
        <p14:creationId xmlns:p14="http://schemas.microsoft.com/office/powerpoint/2010/main" val="119562344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7F068221-FB5D-49DA-8CC0-07A531785A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3.3</a:t>
            </a:r>
            <a:r>
              <a:t>：学习策略在多数配对中优于HEFT</a:t>
            </a:r>
          </a:p>
        </p:txBody>
      </p:sp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8bb32e0a54e2f"/>
          <a:stretch xmlns:a="http://schemas.openxmlformats.org/drawingml/2006/main"/>
        </p:blipFill>
        <p:spPr>
          <a:xfrm xmlns:a="http://schemas.openxmlformats.org/drawingml/2006/main">
            <a:off x="647700" y="1562847"/>
            <a:ext cx="10782300" cy="3503705"/>
          </a:xfrm>
          <a:prstGeom xmlns:a="http://schemas.openxmlformats.org/drawingml/2006/main" prst="rect">
            <a:avLst/>
          </a:prstGeom>
        </p:spPr>
      </p:pic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90923154-1029-4EF7-A6DC-8A2BE1E7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782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8EA6FF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结论｜GNN-PPO在78/90个配对中优于HEFT，并取得最低平均Makespan 108.9秒。</a:t>
            </a:r>
          </a:p>
        </p:txBody>
      </p:sp>
    </p:spTree>
    <p:extLst>
      <p:ext uri="{BB962C8B-B14F-4D97-AF65-F5344CB8AC3E}">
        <p14:creationId xmlns:p14="http://schemas.microsoft.com/office/powerpoint/2010/main" val="152547555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BBF5B025-0D8B-450D-AAC8-41F9D8CFE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3.4</a:t>
            </a:r>
            <a:r>
              <a:t>：GNN中位推理开销仅增加1.6%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FE787D5C-6FC3-4565-A473-CA789157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C3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33350" tIns="76200" rIns="133350" bIns="7620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rPr>
              <a:t>模型参数量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F61D645-AA76-43C2-B55A-F8C28B5E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14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57150" rIns="114300" bIns="57150" anchor="t"/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MLP 512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A3F20167-CE67-44F3-BCAF-73BDB82C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238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6FF"/>
          </a:solidFill>
          <a:ln xmlns:a="http://schemas.openxmlformats.org/drawingml/2006/main" w="0">
            <a:solidFill>
              <a:srgbClr val="8EA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60D3D57-4731-43C3-9CCD-4D3894FA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766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57150" rIns="114300" bIns="57150" anchor="t"/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GNN 1008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98CB1699-B57B-484B-91EE-6E0D4A34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2438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9EE"/>
          </a:solidFill>
          <a:ln xmlns:a="http://schemas.openxmlformats.org/drawingml/2006/main" w="0">
            <a:solidFill>
              <a:srgbClr val="6C39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E84E2C1F-4E14-42A5-B169-B12A81CA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38300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F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33350" tIns="76200" rIns="133350" bIns="7620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8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8F68"/>
                </a:solidFill>
                <a:latin typeface="Microsoft YaHei"/>
                <a:ea typeface="Microsoft YaHei"/>
                <a:cs typeface="Microsoft YaHei"/>
              </a:rPr>
              <a:t>CPU P50推理延迟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400E6F6-4691-4269-BDB8-B16D7168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57150" rIns="114300" bIns="57150" anchor="t"/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MLP 108.3 ms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6ADCDB9D-425C-4527-AE50-EC1CC1F4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0574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6FF"/>
          </a:solidFill>
          <a:ln xmlns:a="http://schemas.openxmlformats.org/drawingml/2006/main" w="0">
            <a:solidFill>
              <a:srgbClr val="8EA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3264859-F711-4F21-A13F-B4A9D3AA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766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14300" tIns="57150" rIns="114300" bIns="57150" anchor="t"/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GNN 110.0 ms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81F29599-3091-441D-A475-3456129A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0955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F68"/>
          </a:solidFill>
          <a:ln xmlns:a="http://schemas.openxmlformats.org/drawingml/2006/main" w="0">
            <a:solidFill>
              <a:srgbClr val="0B8F6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5E0277D-DEE2-4809-935A-FB36EFBE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7823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8EA6FF"/>
            </a:solidFill>
            <a:prstDash val="solid"/>
          </a:ln>
        </p:spPr>
        <p:txBody>
          <a:bodyPr xmlns:a="http://schemas.openxmlformats.org/drawingml/2006/main" lIns="133350" tIns="76200" rIns="1333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结论｜GNN参数量约翻倍，但CPU中位推理延迟仅增加约1.6%，工程开销可控。</a:t>
            </a:r>
          </a:p>
        </p:txBody>
      </p:sp>
    </p:spTree>
    <p:extLst>
      <p:ext uri="{BB962C8B-B14F-4D97-AF65-F5344CB8AC3E}">
        <p14:creationId xmlns:p14="http://schemas.microsoft.com/office/powerpoint/2010/main" val="87798384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4ADCD22C-D7E6-4271-9616-8EA4BB4CE08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项目测试</a:t>
            </a:r>
          </a:p>
        </p:txBody>
      </p:sp>
    </p:spTree>
    <p:extLst>
      <p:ext uri="{BB962C8B-B14F-4D97-AF65-F5344CB8AC3E}">
        <p14:creationId xmlns:p14="http://schemas.microsoft.com/office/powerpoint/2010/main" val="126326921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7731A68B-28C4-4942-8705-8F885B663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4.1 回归、跨平台与调度指标形成三层验证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F7CD4653-6F4E-4ED5-BF92-39D825BD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3718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4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0" tIns="171450" rIns="190500" bIns="0" anchor="t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277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5D56F52-EAC9-44C4-AD60-07E9187B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项核心代码回归通过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B6C6F17-2C6E-4394-8A20-AB29A4B4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0">
                <a:solidFill>
                  <a:srgbClr val="536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3637B"/>
                </a:solidFill>
                <a:latin typeface="Microsoft YaHei"/>
                <a:ea typeface="Microsoft YaHei"/>
                <a:cs typeface="Microsoft YaHei"/>
              </a:rPr>
              <a:t>环境、策略、训练、评测与报告链路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29C26136-B3C3-4EBB-906D-C7382EAF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81150"/>
            <a:ext cx="33718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C39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0" tIns="171450" rIns="190500" bIns="0" anchor="t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D11E708-3406-4006-9EE8-AA2CDB5C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288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组 CI 组合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6A3832D-4634-439E-B527-4A4B3403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90800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0">
                <a:solidFill>
                  <a:srgbClr val="536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3637B"/>
                </a:solidFill>
                <a:latin typeface="Microsoft YaHei"/>
                <a:ea typeface="Microsoft YaHei"/>
                <a:cs typeface="Microsoft YaHei"/>
              </a:rPr>
              <a:t>Linux / Windows × Python 3.10 / 3.11 / 3.12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B46C618-BA6F-469D-8604-681173FB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81150"/>
            <a:ext cx="33718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8F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90500" tIns="171450" rIns="19050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8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8F68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965778C-60E8-4B1C-9205-8A706D97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2990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openEuler smoke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B5E9248-3956-47F9-B11C-48C6476B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295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88" b="0">
                <a:solidFill>
                  <a:srgbClr val="5363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3637B"/>
                </a:solidFill>
                <a:latin typeface="Microsoft YaHei"/>
                <a:ea typeface="Microsoft YaHei"/>
                <a:cs typeface="Microsoft YaHei"/>
              </a:rPr>
              <a:t>24.03 LTS SP4 固定镜像；历史证据 158 tests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1F4C96C5-9250-4A9F-8E11-F874D0D8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706755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09265F"/>
          </a:solidFill>
          <a:ln xmlns:a="http://schemas.openxmlformats.org/drawingml/2006/main" w="0">
            <a:solidFill>
              <a:srgbClr val="09265F"/>
            </a:solidFill>
            <a:prstDash val="solid"/>
          </a:ln>
        </p:spPr>
        <p:txBody>
          <a:bodyPr xmlns:a="http://schemas.openxmlformats.org/drawingml/2006/main" lIns="266700" tIns="190500" rIns="26670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开发验证集：相对 HEFT 的 mean_ratio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D3EE797-014A-41CC-A2C3-E2E17222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457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BFD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BFD0FF"/>
                </a:solidFill>
                <a:latin typeface="Microsoft YaHei"/>
                <a:ea typeface="Microsoft YaHei"/>
                <a:cs typeface="Microsoft YaHei"/>
              </a:rPr>
              <a:t>0.723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81B18A1-6219-40C7-84D9-EA77AD51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Masked MLP</a:t>
            </a:r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1D1E337C-73AF-47E1-AC07-787FA03A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943350"/>
            <a:ext cx="0" cy="1066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26A9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7F27D6A-0B3C-4E2E-B4A9-DD546291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057650"/>
            <a:ext cx="2457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rPr>
              <a:t>0.690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E050F22-0BEE-4A93-97BE-1BC6802F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2915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TriSched-GNN-PPO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FF60055-3B54-469C-843A-FC23C6F7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630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BFEEDD"/>
                </a:solidFill>
                <a:latin typeface="Microsoft YaHei"/>
                <a:ea typeface="Microsoft YaHei"/>
                <a:cs typeface="Microsoft YaHei"/>
              </a:rPr>
              <a:t>点估计相对下降约 4.53% · 低于 1 表示优于 HEFT</a:t>
            </a: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D1CCD5D5-870E-445F-B894-DB80AA9F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0900"/>
            <a:ext cx="34290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247650" tIns="190500" rIns="24765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C39EE"/>
                </a:solidFill>
                <a:latin typeface="Microsoft YaHei"/>
                <a:ea typeface="Microsoft YaHei"/>
                <a:cs typeface="Microsoft YaHei"/>
              </a:rPr>
              <a:t>模型与评测完整性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52098F7-0EAD-4331-B029-6EF4EB48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38600"/>
            <a:ext cx="2895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MLP：512 参数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GNN：1008 参数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统一 Scheduler 接口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合法率与失败记录统一输出</a:t>
            </a:r>
          </a:p>
        </p:txBody>
      </p:sp>
    </p:spTree>
    <p:extLst>
      <p:ext uri="{BB962C8B-B14F-4D97-AF65-F5344CB8AC3E}">
        <p14:creationId xmlns:p14="http://schemas.microsoft.com/office/powerpoint/2010/main" val="82601147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占位符 1">
            <a:extLst xmlns:a="http://schemas.openxmlformats.org/drawingml/2006/main">
              <a:ext uri="{FF2B5EF4-FFF2-40B4-BE49-F238E27FC236}">
                <a16:creationId xmlns:a16="http://schemas.microsoft.com/office/drawing/2014/main" id="{98ABE488-D4DF-4601-8353-72F1FD78AE3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作品演示</a:t>
            </a:r>
          </a:p>
        </p:txBody>
      </p:sp>
    </p:spTree>
    <p:extLst>
      <p:ext uri="{BB962C8B-B14F-4D97-AF65-F5344CB8AC3E}">
        <p14:creationId xmlns:p14="http://schemas.microsoft.com/office/powerpoint/2010/main" val="8872597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89DF092C-7BFE-4A4E-853B-A16446C57B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5.1 run_all.py 串联数据、训练</a:t>
            </a:r>
          </a:p>
        </p:txBody>
      </p:sp>
      <p:sp>
        <p:nvSpPr>
          <p:cNvPr id="4" name="矩形: 圆角 3">
            <a:extLst xmlns:a="http://schemas.openxmlformats.org/drawingml/2006/main">
              <a:ext uri="{FF2B5EF4-FFF2-40B4-BE49-F238E27FC236}">
                <a16:creationId xmlns:a16="http://schemas.microsoft.com/office/drawing/2014/main" id="{FA786E45-FD7F-43B3-AD1D-D4BBA5E9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7823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9265F"/>
          </a:solidFill>
          <a:ln xmlns:a="http://schemas.openxmlformats.org/drawingml/2006/main" w="0">
            <a:solidFill>
              <a:srgbClr val="09265F"/>
            </a:solidFill>
            <a:prstDash val="solid"/>
          </a:ln>
        </p:spPr>
        <p:txBody>
          <a:bodyPr xmlns:a="http://schemas.openxmlformats.org/drawingml/2006/main" lIns="209550" tIns="552450" rIns="22860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 run_all.py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 run_all.py --output outputs/stg-model-comparison-fresh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BD4CA88F-8725-4BCC-8A7E-221AB358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CF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092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09265F"/>
                </a:solidFill>
                <a:latin typeface="Microsoft YaHei"/>
                <a:ea typeface="Microsoft YaHei"/>
                <a:cs typeface="Microsoft YaHei"/>
              </a:rPr>
              <a:t>演示入口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723786FD-FA0E-4A67-A003-3F903A0A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1472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B13ACAD0-EF3B-433A-9435-78FCC001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1472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C8A09EA-66D4-4C6F-BDFC-2183188B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1472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A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67CF371C-B9E8-47D0-A898-703E14DA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22288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71450" tIns="171450" rIns="1714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EDE2817-12B1-4FCE-8AF8-4BAD3081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847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下载 / 校验</a:t>
            </a:r>
          </a:p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冻结 benchmark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20AF838C-90BB-4241-84DF-75E1F165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22288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71450" tIns="171450" rIns="1714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51EBEB9-C402-4D7E-94B5-D5A3B09F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19500"/>
            <a:ext cx="1847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Masked MLP</a:t>
            </a:r>
          </a:p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TriSched-GNN-PPO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22740EE9-5581-4C60-9B0B-5A33C0F8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09900"/>
            <a:ext cx="22288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F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71450" tIns="171450" rIns="1714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比较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EDBDFE8-9CAA-4848-86F1-5BB61854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1847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统一验证</a:t>
            </a:r>
          </a:p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paired metrics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A3FFC976-D861-4640-BD3D-B24BCB59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09900"/>
            <a:ext cx="22288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8F6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171450" tIns="171450" rIns="17145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8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8F68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3208E41-2605-46F0-8F31-5F4E2ADC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19500"/>
            <a:ext cx="1847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JSON · CSV · HTML</a:t>
            </a:r>
          </a:p>
          <a:p xmlns:a="http://schemas.openxmlformats.org/drawingml/2006/main">
            <a:pPr algn="ctr">
              <a:buNone/>
              <a:def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01A35"/>
                </a:solidFill>
                <a:latin typeface="Microsoft YaHei"/>
                <a:ea typeface="Microsoft YaHei"/>
                <a:cs typeface="Microsoft YaHei"/>
              </a:rPr>
              <a:t>SVG · manifest · hash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951331D7-C808-40FF-B1B5-FB5B335B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0782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8EA6FF"/>
            </a:solidFill>
            <a:prstDash val="solid"/>
          </a:ln>
        </p:spPr>
        <p:txBody>
          <a:bodyPr xmlns:a="http://schemas.openxmlformats.org/drawingml/2006/main" lIns="228600" tIns="161925" rIns="22860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4FEB"/>
                </a:solidFill>
                <a:latin typeface="Microsoft YaHei"/>
                <a:ea typeface="Microsoft YaHei"/>
                <a:cs typeface="Microsoft YaHei"/>
              </a:rPr>
              <a:t>默认校验并复用完整冻结结果；指定 --output 可执行全量训练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A6457FC-B128-4179-B0A2-8500994F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1032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0B8F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0B8F68"/>
                </a:solidFill>
                <a:latin typeface="Microsoft YaHei"/>
                <a:ea typeface="Microsoft YaHei"/>
                <a:cs typeface="Microsoft YaHei"/>
              </a:rPr>
              <a:t>同一入口稳定生成结构化指标、可视化报告与可审计清单。</a:t>
            </a:r>
          </a:p>
        </p:txBody>
      </p:sp>
    </p:spTree>
    <p:extLst>
      <p:ext uri="{BB962C8B-B14F-4D97-AF65-F5344CB8AC3E}">
        <p14:creationId xmlns:p14="http://schemas.microsoft.com/office/powerpoint/2010/main" val="117488689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形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9d6b90d754202">
            <a:extLst>
              <a:ext uri="{96DAC541-7B7A-43D3-8B79-37D633B846F1}">
                <asvg:svgBlip xmlns:asvg="http://schemas.microsoft.com/office/drawing/2016/SVG/main" r:embed="Rf71235c97033473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72257" y="1014095"/>
            <a:ext cx="8047486" cy="5364991"/>
          </a:xfrm>
          <a:prstGeom xmlns:a="http://schemas.openxmlformats.org/drawingml/2006/main" prst="rect">
            <a:avLst/>
          </a:prstGeom>
        </p:spPr>
      </p:pic>
      <p:sp>
        <p:nvSpPr>
          <p:cNvPr id="3" name="标题 2">
            <a:extLst xmlns:a="http://schemas.openxmlformats.org/drawingml/2006/main">
              <a:ext uri="{FF2B5EF4-FFF2-40B4-BE49-F238E27FC236}">
                <a16:creationId xmlns:a16="http://schemas.microsoft.com/office/drawing/2014/main" id="{1C565220-5A18-74A2-9FB4-F68E30C9E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955" y="522605"/>
            <a:ext cx="7624445" cy="49149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r>
              <a:t>5.2 比较与报告</a:t>
            </a:r>
          </a:p>
        </p:txBody>
      </p:sp>
    </p:spTree>
    <p:extLst>
      <p:ext uri="{BB962C8B-B14F-4D97-AF65-F5344CB8AC3E}">
        <p14:creationId xmlns:p14="http://schemas.microsoft.com/office/powerpoint/2010/main" val="99765897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标题 36">
            <a:extLst xmlns:a="http://schemas.openxmlformats.org/drawingml/2006/main">
              <a:ext uri="{FF2B5EF4-FFF2-40B4-BE49-F238E27FC236}">
                <a16:creationId xmlns:a16="http://schemas.microsoft.com/office/drawing/2014/main" id="{0DEE9C01-D992-4D21-8ACD-EE5BF2D359D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62050" y="2038350"/>
            <a:ext cx="9867900" cy="1257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谢谢大家</a:t>
            </a:r>
          </a:p>
        </p:txBody>
      </p:sp>
      <p:sp>
        <p:nvSpPr>
          <p:cNvPr id="40" name="文本占位符 39">
            <a:extLst xmlns:a="http://schemas.openxmlformats.org/drawingml/2006/main">
              <a:ext uri="{FF2B5EF4-FFF2-40B4-BE49-F238E27FC236}">
                <a16:creationId xmlns:a16="http://schemas.microsoft.com/office/drawing/2014/main" id="{C2E6DC7E-155E-493D-8A48-248E2AC33620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5099018" y="4639913"/>
            <a:ext cx="3971258" cy="2902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云边智链</a:t>
            </a:r>
          </a:p>
        </p:txBody>
      </p:sp>
      <p:sp>
        <p:nvSpPr>
          <p:cNvPr id="41" name="文本占位符 40">
            <a:extLst xmlns:a="http://schemas.openxmlformats.org/drawingml/2006/main">
              <a:ext uri="{FF2B5EF4-FFF2-40B4-BE49-F238E27FC236}">
                <a16:creationId xmlns:a16="http://schemas.microsoft.com/office/drawing/2014/main" id="{A30A203D-0001-46A8-BDB1-8641F09D2DE1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99018" y="5077492"/>
            <a:ext cx="3997928" cy="2902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 年 7 月28日</a:t>
            </a:r>
          </a:p>
        </p:txBody>
      </p:sp>
      <p:sp>
        <p:nvSpPr>
          <p:cNvPr id="33" name="文本占位符 50">
            <a:extLst xmlns:a="http://schemas.openxmlformats.org/drawingml/2006/main">
              <a:ext uri="{FF2B5EF4-FFF2-40B4-BE49-F238E27FC236}">
                <a16:creationId xmlns:a16="http://schemas.microsoft.com/office/drawing/2014/main" id="{145FF772-9CCB-4585-8E3B-852AFB86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218" y="4640664"/>
            <a:ext cx="1235417" cy="2903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参赛团队：</a:t>
            </a:r>
          </a:p>
        </p:txBody>
      </p:sp>
      <p:sp>
        <p:nvSpPr>
          <p:cNvPr id="34" name="文本占位符 53">
            <a:extLst xmlns:a="http://schemas.openxmlformats.org/drawingml/2006/main">
              <a:ext uri="{FF2B5EF4-FFF2-40B4-BE49-F238E27FC236}">
                <a16:creationId xmlns:a16="http://schemas.microsoft.com/office/drawing/2014/main" id="{FC727785-0B9A-4872-9911-33C8758F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218" y="5077480"/>
            <a:ext cx="1235417" cy="2903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1600" b="0" i="0">
                <a:solidFill>
                  <a:schemeClr val="bg1"/>
                </a:solidFill>
                <a:latin typeface="+mn-ea"/>
                <a:ea typeface="+mn-ea"/>
                <a:cs typeface="+mn-ea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完成日期：</a:t>
            </a:r>
          </a:p>
        </p:txBody>
      </p:sp>
    </p:spTree>
    <p:extLst>
      <p:ext uri="{BB962C8B-B14F-4D97-AF65-F5344CB8AC3E}">
        <p14:creationId xmlns:p14="http://schemas.microsoft.com/office/powerpoint/2010/main" val="920486890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2026-07-28T11:03:30.4690000Z</dcterms:created>
  <dcterms:modified xsi:type="dcterms:W3CDTF">2026-07-28T11:03:30.4690000Z</dcterms:modified>
</coreProperties>
</file>